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2" r:id="rId4"/>
    <p:sldId id="273" r:id="rId5"/>
    <p:sldId id="269" r:id="rId6"/>
    <p:sldId id="270" r:id="rId7"/>
    <p:sldId id="271" r:id="rId8"/>
    <p:sldId id="261" r:id="rId9"/>
    <p:sldId id="263" r:id="rId10"/>
    <p:sldId id="267" r:id="rId11"/>
    <p:sldId id="268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7229044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punto critico del metodo sono i segni. Abbiamo aggiunto al componente un solo bool, oriented. Per i resistori vale sempre true: non hanno polarità, il segno lo decide solo il verso della maglia. Per i generatori vale (from &gt; to): il primo nodo della netlist è il polo +, quindi oriented è true quando il + sta sul nodo di indice maggiore. In system_constructor il verso di percorrenza della maglia dà +1 se crescente (T) o -1 se decrescente (F). Il contributo in v è semplicemente verso x oriented: positivo quando i due bool concordano (si attraversa il generatore da - a +), negativo quando discordano. Niente catene di if: una sola moltiplicazione gestisce tutti e quattro i casi.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Scelta inusuale ma deliberata: usiamo il numero progressivo della netlist (R1, R2, ...) come riga di B e R. Quel numero, portato a base zero, è l'unico membro number_ del componente e fa doppio lavoro: è la riga della matrice ed e' anche, con +1, l'etichetta di output. Niente mappa label-&gt;riga, niente vettore parallelo da sincronizzare: una sola fonte di verita'. Vantaggi: stato minimo, output banale e prevedibile, riga k che corrisponde a R(k+1). Svantaggi: dipende dalla numerazione contigua, garantita solo da assert che spariscono in Release, e accoppia il layout della matrice all'etichetta utente. Attenzione: edge_number (posizione lessicografica) e number() (riga pubblica) sono due spazi di indici diversi e in generale non coincidono. Le alternative considerate erano un indice surrogato denso, una mappa label-&gt;riga, o indicizzare le righe con edge_number; tutte piu' robuste ma piu' costose o che ricadono nella prima.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sv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svg"/><Relationship Id="rId5" Type="http://schemas.openxmlformats.org/officeDocument/2006/relationships/image" Target="../media/image15.svg"/><Relationship Id="rId4" Type="http://schemas.openxmlformats.org/officeDocument/2006/relationships/image" Target="../media/image14.svg"/><Relationship Id="rId9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1481328"/>
            <a:ext cx="109728" cy="10972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704088" y="13898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  ·  PCS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02920" y="182880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 delle</a:t>
            </a:r>
            <a:endParaRPr lang="en-US" sz="50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Correnti di Maglia</a:t>
            </a:r>
            <a:endParaRPr lang="en-US" sz="5000" dirty="0"/>
          </a:p>
        </p:txBody>
      </p:sp>
      <p:sp>
        <p:nvSpPr>
          <p:cNvPr id="5" name="Text 3"/>
          <p:cNvSpPr/>
          <p:nvPr/>
        </p:nvSpPr>
        <p:spPr>
          <a:xfrm>
            <a:off x="502920" y="361188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netlist al sistema lineare: un solutore per circuiti resistivi, con due basi di cicli a confronto.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02920" y="46177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2A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e analisi  ·  Presentazione del progetto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 flipV="1">
            <a:off x="5897880" y="2697480"/>
            <a:ext cx="1554480" cy="91440"/>
          </a:xfrm>
          <a:prstGeom prst="line">
            <a:avLst/>
          </a:prstGeom>
          <a:noFill/>
          <a:ln w="25400">
            <a:solidFill>
              <a:srgbClr val="2A8FA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Shape 6"/>
          <p:cNvSpPr/>
          <p:nvPr/>
        </p:nvSpPr>
        <p:spPr>
          <a:xfrm>
            <a:off x="8366760" y="1691640"/>
            <a:ext cx="182880" cy="1737360"/>
          </a:xfrm>
          <a:prstGeom prst="line">
            <a:avLst/>
          </a:prstGeom>
          <a:noFill/>
          <a:ln w="25400">
            <a:solidFill>
              <a:srgbClr val="2A8FA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 flipV="1">
            <a:off x="6995160" y="3429000"/>
            <a:ext cx="1554480" cy="640080"/>
          </a:xfrm>
          <a:prstGeom prst="line">
            <a:avLst/>
          </a:prstGeom>
          <a:noFill/>
          <a:ln w="25400">
            <a:solidFill>
              <a:srgbClr val="2A8FA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Shape 8"/>
          <p:cNvSpPr/>
          <p:nvPr/>
        </p:nvSpPr>
        <p:spPr>
          <a:xfrm>
            <a:off x="5897880" y="2788920"/>
            <a:ext cx="1097280" cy="1280160"/>
          </a:xfrm>
          <a:prstGeom prst="line">
            <a:avLst/>
          </a:prstGeom>
          <a:noFill/>
          <a:ln w="25400">
            <a:solidFill>
              <a:srgbClr val="2A8FA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Shape 9"/>
          <p:cNvSpPr/>
          <p:nvPr/>
        </p:nvSpPr>
        <p:spPr>
          <a:xfrm flipV="1">
            <a:off x="5897880" y="1188720"/>
            <a:ext cx="640080" cy="1600200"/>
          </a:xfrm>
          <a:prstGeom prst="line">
            <a:avLst/>
          </a:prstGeom>
          <a:noFill/>
          <a:ln w="44450">
            <a:solidFill>
              <a:srgbClr val="E0A4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Shape 10"/>
          <p:cNvSpPr/>
          <p:nvPr/>
        </p:nvSpPr>
        <p:spPr>
          <a:xfrm>
            <a:off x="6537960" y="1188720"/>
            <a:ext cx="914400" cy="1508760"/>
          </a:xfrm>
          <a:prstGeom prst="line">
            <a:avLst/>
          </a:prstGeom>
          <a:noFill/>
          <a:ln w="44450">
            <a:solidFill>
              <a:srgbClr val="E0A4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Shape 11"/>
          <p:cNvSpPr/>
          <p:nvPr/>
        </p:nvSpPr>
        <p:spPr>
          <a:xfrm flipV="1">
            <a:off x="7452360" y="1691640"/>
            <a:ext cx="914400" cy="1005840"/>
          </a:xfrm>
          <a:prstGeom prst="line">
            <a:avLst/>
          </a:prstGeom>
          <a:noFill/>
          <a:ln w="44450">
            <a:solidFill>
              <a:srgbClr val="E0A4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Shape 12"/>
          <p:cNvSpPr/>
          <p:nvPr/>
        </p:nvSpPr>
        <p:spPr>
          <a:xfrm>
            <a:off x="6355080" y="1005840"/>
            <a:ext cx="365760" cy="365760"/>
          </a:xfrm>
          <a:prstGeom prst="ellipse">
            <a:avLst/>
          </a:prstGeom>
          <a:solidFill>
            <a:srgbClr val="E0A458"/>
          </a:solidFill>
          <a:ln w="25400">
            <a:solidFill>
              <a:srgbClr val="0D1B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3"/>
          <p:cNvSpPr/>
          <p:nvPr/>
        </p:nvSpPr>
        <p:spPr>
          <a:xfrm>
            <a:off x="5715000" y="260604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Shape 14"/>
          <p:cNvSpPr/>
          <p:nvPr/>
        </p:nvSpPr>
        <p:spPr>
          <a:xfrm>
            <a:off x="7269480" y="2514600"/>
            <a:ext cx="365760" cy="365760"/>
          </a:xfrm>
          <a:prstGeom prst="ellipse">
            <a:avLst/>
          </a:prstGeom>
          <a:solidFill>
            <a:srgbClr val="E0A458"/>
          </a:solidFill>
          <a:ln w="25400">
            <a:solidFill>
              <a:srgbClr val="0D1B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7" name="Shape 15"/>
          <p:cNvSpPr/>
          <p:nvPr/>
        </p:nvSpPr>
        <p:spPr>
          <a:xfrm>
            <a:off x="8183880" y="150876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Shape 16"/>
          <p:cNvSpPr/>
          <p:nvPr/>
        </p:nvSpPr>
        <p:spPr>
          <a:xfrm>
            <a:off x="8366760" y="324612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6812280" y="388620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109728" cy="10972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704088" y="2743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ARCHITETTURA DEL SOFTWARE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pipeline, moduli intercambiabili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13533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fase è un modulo indipendente. Il costruttore del sistema non sa quale algoritmo ha prodotto le maglie: gli basta la stessa firma.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2103120"/>
            <a:ext cx="1408176" cy="1188720"/>
          </a:xfrm>
          <a:prstGeom prst="roundRect">
            <a:avLst>
              <a:gd name="adj" fmla="val 6923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Shape 5"/>
          <p:cNvSpPr/>
          <p:nvPr/>
        </p:nvSpPr>
        <p:spPr>
          <a:xfrm>
            <a:off x="923544" y="2267712"/>
            <a:ext cx="566928" cy="566928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8583" y="2352751"/>
            <a:ext cx="396850" cy="39685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02920" y="2852928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input_read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911096" y="24414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185416" y="2103120"/>
            <a:ext cx="1408176" cy="1188720"/>
          </a:xfrm>
          <a:prstGeom prst="roundRect">
            <a:avLst>
              <a:gd name="adj" fmla="val 6923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3" name="Shape 10"/>
          <p:cNvSpPr/>
          <p:nvPr/>
        </p:nvSpPr>
        <p:spPr>
          <a:xfrm>
            <a:off x="2606040" y="2267712"/>
            <a:ext cx="566928" cy="566928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91079" y="2352751"/>
            <a:ext cx="396850" cy="39685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185416" y="2852928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Grafo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2185416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un_graph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3593592" y="24414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18" name="Shape 14"/>
          <p:cNvSpPr/>
          <p:nvPr/>
        </p:nvSpPr>
        <p:spPr>
          <a:xfrm>
            <a:off x="3867912" y="2103120"/>
            <a:ext cx="1408176" cy="1188720"/>
          </a:xfrm>
          <a:prstGeom prst="roundRect">
            <a:avLst>
              <a:gd name="adj" fmla="val 6923"/>
            </a:avLst>
          </a:prstGeom>
          <a:solidFill>
            <a:srgbClr val="16304B"/>
          </a:solidFill>
          <a:ln w="19050">
            <a:solidFill>
              <a:srgbClr val="E0A458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9" name="Shape 15"/>
          <p:cNvSpPr/>
          <p:nvPr/>
        </p:nvSpPr>
        <p:spPr>
          <a:xfrm>
            <a:off x="4288536" y="2267712"/>
            <a:ext cx="566928" cy="56692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73575" y="2352751"/>
            <a:ext cx="396850" cy="39685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867912" y="2852928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Cicli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3867912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maglie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5276088" y="24414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24" name="Shape 19"/>
          <p:cNvSpPr/>
          <p:nvPr/>
        </p:nvSpPr>
        <p:spPr>
          <a:xfrm>
            <a:off x="5550408" y="2103120"/>
            <a:ext cx="1408176" cy="1188720"/>
          </a:xfrm>
          <a:prstGeom prst="roundRect">
            <a:avLst>
              <a:gd name="adj" fmla="val 6923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25" name="Shape 20"/>
          <p:cNvSpPr/>
          <p:nvPr/>
        </p:nvSpPr>
        <p:spPr>
          <a:xfrm>
            <a:off x="5971032" y="2267712"/>
            <a:ext cx="566928" cy="566928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56071" y="2352751"/>
            <a:ext cx="396850" cy="39685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550408" y="2852928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</a:t>
            </a:r>
            <a:endParaRPr lang="en-US" sz="1450" dirty="0"/>
          </a:p>
        </p:txBody>
      </p:sp>
      <p:sp>
        <p:nvSpPr>
          <p:cNvPr id="28" name="Text 22"/>
          <p:cNvSpPr/>
          <p:nvPr/>
        </p:nvSpPr>
        <p:spPr>
          <a:xfrm>
            <a:off x="5550408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B, R, v, A</a:t>
            </a:r>
            <a:endParaRPr lang="en-US" sz="1050" dirty="0"/>
          </a:p>
        </p:txBody>
      </p:sp>
      <p:sp>
        <p:nvSpPr>
          <p:cNvPr id="29" name="Text 23"/>
          <p:cNvSpPr/>
          <p:nvPr/>
        </p:nvSpPr>
        <p:spPr>
          <a:xfrm>
            <a:off x="6958584" y="244144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2400" dirty="0"/>
          </a:p>
        </p:txBody>
      </p:sp>
      <p:sp>
        <p:nvSpPr>
          <p:cNvPr id="30" name="Shape 24"/>
          <p:cNvSpPr/>
          <p:nvPr/>
        </p:nvSpPr>
        <p:spPr>
          <a:xfrm>
            <a:off x="7232904" y="2103120"/>
            <a:ext cx="1408176" cy="1188720"/>
          </a:xfrm>
          <a:prstGeom prst="roundRect">
            <a:avLst>
              <a:gd name="adj" fmla="val 6923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1" name="Shape 25"/>
          <p:cNvSpPr/>
          <p:nvPr/>
        </p:nvSpPr>
        <p:spPr>
          <a:xfrm>
            <a:off x="7653528" y="2267712"/>
            <a:ext cx="566928" cy="566928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3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38567" y="2352751"/>
            <a:ext cx="396850" cy="39685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232904" y="2852928"/>
            <a:ext cx="14081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Solutore</a:t>
            </a:r>
            <a:endParaRPr lang="en-US" sz="1450" dirty="0"/>
          </a:p>
        </p:txBody>
      </p:sp>
      <p:sp>
        <p:nvSpPr>
          <p:cNvPr id="34" name="Text 27"/>
          <p:cNvSpPr/>
          <p:nvPr/>
        </p:nvSpPr>
        <p:spPr>
          <a:xfrm>
            <a:off x="7232904" y="3054096"/>
            <a:ext cx="1408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grad. coniugato</a:t>
            </a:r>
            <a:endParaRPr lang="en-US" sz="1050" dirty="0"/>
          </a:p>
        </p:txBody>
      </p:sp>
      <p:sp>
        <p:nvSpPr>
          <p:cNvPr id="35" name="Shape 28"/>
          <p:cNvSpPr/>
          <p:nvPr/>
        </p:nvSpPr>
        <p:spPr>
          <a:xfrm>
            <a:off x="4572000" y="3291840"/>
            <a:ext cx="0" cy="411480"/>
          </a:xfrm>
          <a:prstGeom prst="line">
            <a:avLst/>
          </a:prstGeom>
          <a:noFill/>
          <a:ln w="19050">
            <a:solidFill>
              <a:srgbClr val="E0A4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6" name="Shape 29"/>
          <p:cNvSpPr/>
          <p:nvPr/>
        </p:nvSpPr>
        <p:spPr>
          <a:xfrm>
            <a:off x="3163824" y="3703320"/>
            <a:ext cx="2816352" cy="868680"/>
          </a:xfrm>
          <a:prstGeom prst="roundRect">
            <a:avLst>
              <a:gd name="adj" fmla="val 9474"/>
            </a:avLst>
          </a:prstGeom>
          <a:solidFill>
            <a:srgbClr val="1E3D5C"/>
          </a:solidFill>
          <a:ln w="15240">
            <a:solidFill>
              <a:srgbClr val="E0A458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37" name="Shape 30"/>
          <p:cNvSpPr/>
          <p:nvPr/>
        </p:nvSpPr>
        <p:spPr>
          <a:xfrm>
            <a:off x="3364992" y="388620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16304B"/>
          </a:solidFill>
          <a:ln w="12700">
            <a:solidFill>
              <a:srgbClr val="2A8FA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8" name="Text 31"/>
          <p:cNvSpPr/>
          <p:nvPr/>
        </p:nvSpPr>
        <p:spPr>
          <a:xfrm>
            <a:off x="3364992" y="38862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300" dirty="0"/>
          </a:p>
        </p:txBody>
      </p:sp>
      <p:sp>
        <p:nvSpPr>
          <p:cNvPr id="39" name="Shape 32"/>
          <p:cNvSpPr/>
          <p:nvPr/>
        </p:nvSpPr>
        <p:spPr>
          <a:xfrm>
            <a:off x="4389120" y="3895344"/>
            <a:ext cx="365760" cy="365760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4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3984" y="3950208"/>
            <a:ext cx="256032" cy="256032"/>
          </a:xfrm>
          <a:prstGeom prst="rect">
            <a:avLst/>
          </a:prstGeom>
        </p:spPr>
      </p:pic>
      <p:sp>
        <p:nvSpPr>
          <p:cNvPr id="41" name="Shape 33"/>
          <p:cNvSpPr/>
          <p:nvPr/>
        </p:nvSpPr>
        <p:spPr>
          <a:xfrm>
            <a:off x="4727448" y="3886200"/>
            <a:ext cx="1051560" cy="384048"/>
          </a:xfrm>
          <a:prstGeom prst="roundRect">
            <a:avLst>
              <a:gd name="adj" fmla="val 47619"/>
            </a:avLst>
          </a:prstGeom>
          <a:solidFill>
            <a:srgbClr val="16304B"/>
          </a:solidFill>
          <a:ln w="12700">
            <a:solidFill>
              <a:srgbClr val="2A8FA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2" name="Text 34"/>
          <p:cNvSpPr/>
          <p:nvPr/>
        </p:nvSpPr>
        <p:spPr>
          <a:xfrm>
            <a:off x="4727448" y="388620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Pina</a:t>
            </a:r>
            <a:endParaRPr lang="en-US" sz="1300" dirty="0"/>
          </a:p>
        </p:txBody>
      </p:sp>
      <p:sp>
        <p:nvSpPr>
          <p:cNvPr id="43" name="Text 35"/>
          <p:cNvSpPr/>
          <p:nvPr/>
        </p:nvSpPr>
        <p:spPr>
          <a:xfrm>
            <a:off x="3163824" y="4270248"/>
            <a:ext cx="2816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firma  →  intercambiabili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magine 7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4342" y="1554773"/>
            <a:ext cx="3509087" cy="365792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428625" y="343376"/>
            <a:ext cx="71438" cy="7143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76263" y="285750"/>
            <a:ext cx="2542366" cy="20574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200" b="1" kern="0" spc="225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SCELTA PROGETTUALE · 01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8625" y="539115"/>
            <a:ext cx="9115425" cy="4114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03000"/>
              </a:lnSpc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bool </a:t>
            </a:r>
            <a:r>
              <a:rPr lang="en-US" sz="24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oriented</a:t>
            </a: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 tutti i segni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28625" y="988695"/>
            <a:ext cx="8044815" cy="48958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14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</a:t>
            </a:r>
            <a:r>
              <a:rPr lang="en-US" sz="1425" dirty="0" err="1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</a:t>
            </a:r>
            <a:r>
              <a:rPr lang="en-US" sz="14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critico del metodo sono i segni. Li abbiamo collassati in un </a:t>
            </a:r>
            <a:r>
              <a:rPr lang="en-US" sz="1425" dirty="0" err="1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membro</a:t>
            </a:r>
            <a:r>
              <a:rPr lang="en-US" sz="14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component: il contributo in </a:t>
            </a:r>
            <a:r>
              <a:rPr lang="en-US" sz="1425" i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</a:t>
            </a:r>
            <a:r>
              <a:rPr lang="en-US" sz="14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nasce dal prodotto tra il verso della maglia e </a:t>
            </a:r>
            <a:r>
              <a:rPr lang="en-US" sz="1425" i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oriented</a:t>
            </a:r>
            <a:r>
              <a:rPr lang="en-US" sz="14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428626" y="1544955"/>
            <a:ext cx="2828925" cy="361950"/>
          </a:xfrm>
          <a:prstGeom prst="roundRect">
            <a:avLst>
              <a:gd name="adj" fmla="val 18421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65785" y="1642110"/>
            <a:ext cx="555248" cy="20574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2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segno in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59133" y="1615440"/>
            <a:ext cx="121384" cy="23241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425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1337667" y="1615440"/>
            <a:ext cx="128290" cy="24003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425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</a:t>
            </a:r>
            <a:endParaRPr lang="en-US" sz="1425" dirty="0"/>
          </a:p>
        </p:txBody>
      </p:sp>
      <p:sp>
        <p:nvSpPr>
          <p:cNvPr id="10" name="Text 8"/>
          <p:cNvSpPr/>
          <p:nvPr/>
        </p:nvSpPr>
        <p:spPr>
          <a:xfrm>
            <a:off x="1523107" y="1642110"/>
            <a:ext cx="878342" cy="20574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maglia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397800" y="1668780"/>
            <a:ext cx="858369" cy="17145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endParaRPr lang="en-US" sz="975" dirty="0"/>
          </a:p>
        </p:txBody>
      </p:sp>
      <p:sp>
        <p:nvSpPr>
          <p:cNvPr id="12" name="Text 10"/>
          <p:cNvSpPr/>
          <p:nvPr/>
        </p:nvSpPr>
        <p:spPr>
          <a:xfrm>
            <a:off x="2397800" y="1615440"/>
            <a:ext cx="125534" cy="24003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425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25" dirty="0"/>
          </a:p>
        </p:txBody>
      </p:sp>
      <p:sp>
        <p:nvSpPr>
          <p:cNvPr id="13" name="Text 11"/>
          <p:cNvSpPr/>
          <p:nvPr/>
        </p:nvSpPr>
        <p:spPr>
          <a:xfrm>
            <a:off x="2564649" y="1642110"/>
            <a:ext cx="578227" cy="20574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2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957093" y="1634490"/>
            <a:ext cx="3717745" cy="2019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28000"/>
              </a:lnSpc>
            </a:pPr>
            <a:r>
              <a:rPr lang="en-US" sz="11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Resistore </a:t>
            </a:r>
            <a:r>
              <a:rPr lang="en-US" sz="1125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</a:t>
            </a:r>
            <a:r>
              <a:rPr lang="en-US" sz="1125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oriented = true </a:t>
            </a:r>
            <a:r>
              <a:rPr lang="en-US" sz="11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sempre: decide solo la </a:t>
            </a:r>
            <a:r>
              <a:rPr lang="en-US" sz="1125" dirty="0" err="1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maglia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4153377" y="2038350"/>
            <a:ext cx="994250" cy="1600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00" b="1" kern="0" spc="113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MAGLIA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187012" y="2203133"/>
            <a:ext cx="920252" cy="2781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7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 · </a:t>
            </a:r>
            <a:r>
              <a:rPr lang="en-US" sz="1725" b="1" dirty="0">
                <a:solidFill>
                  <a:srgbClr val="CF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→ 4</a:t>
            </a:r>
            <a:endParaRPr lang="en-US" sz="1725" dirty="0"/>
          </a:p>
        </p:txBody>
      </p:sp>
      <p:sp>
        <p:nvSpPr>
          <p:cNvPr id="18" name="Text 16"/>
          <p:cNvSpPr/>
          <p:nvPr/>
        </p:nvSpPr>
        <p:spPr>
          <a:xfrm>
            <a:off x="4215230" y="2486025"/>
            <a:ext cx="858173" cy="17526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013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crescente · </a:t>
            </a:r>
            <a:r>
              <a:rPr lang="en-US" sz="1013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013" dirty="0"/>
          </a:p>
        </p:txBody>
      </p:sp>
      <p:sp>
        <p:nvSpPr>
          <p:cNvPr id="19" name="Text 17"/>
          <p:cNvSpPr/>
          <p:nvPr/>
        </p:nvSpPr>
        <p:spPr>
          <a:xfrm>
            <a:off x="6915626" y="2038350"/>
            <a:ext cx="994250" cy="1600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00" b="1" kern="0" spc="113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VERSO MAGLIA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58906" y="2203133"/>
            <a:ext cx="899035" cy="2781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7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 · </a:t>
            </a:r>
            <a:r>
              <a:rPr lang="en-US" sz="1725" b="1" dirty="0">
                <a:solidFill>
                  <a:srgbClr val="CFDC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→ 3</a:t>
            </a:r>
            <a:endParaRPr lang="en-US" sz="1725" dirty="0"/>
          </a:p>
        </p:txBody>
      </p:sp>
      <p:sp>
        <p:nvSpPr>
          <p:cNvPr id="21" name="Text 19"/>
          <p:cNvSpPr/>
          <p:nvPr/>
        </p:nvSpPr>
        <p:spPr>
          <a:xfrm>
            <a:off x="6911698" y="2486025"/>
            <a:ext cx="1002893" cy="17526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013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decrescente · </a:t>
            </a:r>
            <a:r>
              <a:rPr lang="en-US" sz="1013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</a:t>
            </a:r>
            <a:endParaRPr lang="en-US" sz="1013" dirty="0"/>
          </a:p>
        </p:txBody>
      </p:sp>
      <p:sp>
        <p:nvSpPr>
          <p:cNvPr id="22" name="Shape 20"/>
          <p:cNvSpPr/>
          <p:nvPr/>
        </p:nvSpPr>
        <p:spPr>
          <a:xfrm>
            <a:off x="428625" y="2745105"/>
            <a:ext cx="2762250" cy="1046798"/>
          </a:xfrm>
          <a:prstGeom prst="roundRect">
            <a:avLst>
              <a:gd name="adj" fmla="val 72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4" name="Text 22"/>
          <p:cNvSpPr/>
          <p:nvPr/>
        </p:nvSpPr>
        <p:spPr>
          <a:xfrm>
            <a:off x="556832" y="2849404"/>
            <a:ext cx="695051" cy="1600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38" i="1" dirty="0">
                <a:solidFill>
                  <a:srgbClr val="7E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4 &gt; to 3</a:t>
            </a:r>
            <a:endParaRPr lang="en-US" sz="938" dirty="0"/>
          </a:p>
        </p:txBody>
      </p:sp>
      <p:sp>
        <p:nvSpPr>
          <p:cNvPr id="25" name="Shape 23"/>
          <p:cNvSpPr/>
          <p:nvPr/>
        </p:nvSpPr>
        <p:spPr>
          <a:xfrm>
            <a:off x="1201103" y="3091339"/>
            <a:ext cx="318135" cy="318135"/>
          </a:xfrm>
          <a:prstGeom prst="ellipse">
            <a:avLst/>
          </a:prstGeom>
          <a:solidFill>
            <a:srgbClr val="0D1B2E"/>
          </a:solidFill>
          <a:ln w="2286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193483" y="3102769"/>
            <a:ext cx="333375" cy="3143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algn="ctr"/>
            <a:r>
              <a:rPr lang="en-US" sz="1125" b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1519238" y="3243263"/>
            <a:ext cx="209550" cy="14288"/>
          </a:xfrm>
          <a:prstGeom prst="rect">
            <a:avLst/>
          </a:prstGeom>
          <a:solidFill>
            <a:srgbClr val="3A587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1690688" y="2902744"/>
            <a:ext cx="122754" cy="1866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125" b="1" dirty="0">
                <a:solidFill>
                  <a:srgbClr val="7E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125" dirty="0"/>
          </a:p>
        </p:txBody>
      </p:sp>
      <p:sp>
        <p:nvSpPr>
          <p:cNvPr id="29" name="Text 27"/>
          <p:cNvSpPr/>
          <p:nvPr/>
        </p:nvSpPr>
        <p:spPr>
          <a:xfrm>
            <a:off x="1832015" y="2893219"/>
            <a:ext cx="139661" cy="2209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E0A4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1728788" y="3164682"/>
            <a:ext cx="61913" cy="171450"/>
          </a:xfrm>
          <a:prstGeom prst="roundRect">
            <a:avLst>
              <a:gd name="adj" fmla="val 15385"/>
            </a:avLst>
          </a:prstGeom>
          <a:solidFill>
            <a:srgbClr val="9FB6C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1" name="Shape 29"/>
          <p:cNvSpPr/>
          <p:nvPr/>
        </p:nvSpPr>
        <p:spPr>
          <a:xfrm>
            <a:off x="1866900" y="3083719"/>
            <a:ext cx="23813" cy="333375"/>
          </a:xfrm>
          <a:prstGeom prst="roundRect">
            <a:avLst>
              <a:gd name="adj" fmla="val 40000"/>
            </a:avLst>
          </a:prstGeom>
          <a:solidFill>
            <a:srgbClr val="E6EDF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2" name="Shape 30"/>
          <p:cNvSpPr/>
          <p:nvPr/>
        </p:nvSpPr>
        <p:spPr>
          <a:xfrm>
            <a:off x="1890713" y="3243263"/>
            <a:ext cx="209550" cy="14288"/>
          </a:xfrm>
          <a:prstGeom prst="rect">
            <a:avLst/>
          </a:prstGeom>
          <a:solidFill>
            <a:srgbClr val="3A587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3" name="Shape 31"/>
          <p:cNvSpPr/>
          <p:nvPr/>
        </p:nvSpPr>
        <p:spPr>
          <a:xfrm>
            <a:off x="2100263" y="3091339"/>
            <a:ext cx="318135" cy="318135"/>
          </a:xfrm>
          <a:prstGeom prst="ellipse">
            <a:avLst/>
          </a:prstGeom>
          <a:solidFill>
            <a:srgbClr val="0D1B2E"/>
          </a:solidFill>
          <a:ln w="22860">
            <a:solidFill>
              <a:srgbClr val="E0A4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4" name="Text 32"/>
          <p:cNvSpPr/>
          <p:nvPr/>
        </p:nvSpPr>
        <p:spPr>
          <a:xfrm>
            <a:off x="2092643" y="3102769"/>
            <a:ext cx="333375" cy="3143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algn="ctr"/>
            <a:r>
              <a:rPr lang="en-US" sz="11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25" dirty="0"/>
          </a:p>
        </p:txBody>
      </p:sp>
      <p:sp>
        <p:nvSpPr>
          <p:cNvPr id="35" name="Text 33"/>
          <p:cNvSpPr/>
          <p:nvPr/>
        </p:nvSpPr>
        <p:spPr>
          <a:xfrm>
            <a:off x="1205216" y="3501866"/>
            <a:ext cx="658642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algn="ctr"/>
            <a:r>
              <a:rPr lang="en-US" sz="11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oriented =</a:t>
            </a:r>
            <a:endParaRPr lang="en-US" sz="1125" dirty="0"/>
          </a:p>
        </p:txBody>
      </p:sp>
      <p:sp>
        <p:nvSpPr>
          <p:cNvPr id="36" name="Shape 34"/>
          <p:cNvSpPr/>
          <p:nvPr/>
        </p:nvSpPr>
        <p:spPr>
          <a:xfrm>
            <a:off x="1891070" y="3474244"/>
            <a:ext cx="493217" cy="230505"/>
          </a:xfrm>
          <a:prstGeom prst="roundRect">
            <a:avLst>
              <a:gd name="adj" fmla="val 50000"/>
            </a:avLst>
          </a:prstGeom>
          <a:solidFill>
            <a:srgbClr val="3FBCD4">
              <a:alpha val="13000"/>
            </a:srgbClr>
          </a:solidFill>
          <a:ln w="7620">
            <a:solidFill>
              <a:srgbClr val="3FBCD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1961555" y="3501867"/>
            <a:ext cx="352247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algn="ctr"/>
            <a:r>
              <a:rPr lang="en-US" sz="1125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3257550" y="2745105"/>
            <a:ext cx="2695575" cy="1046798"/>
          </a:xfrm>
          <a:prstGeom prst="roundRect">
            <a:avLst>
              <a:gd name="adj" fmla="val 72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9" name="Text 37"/>
          <p:cNvSpPr/>
          <p:nvPr/>
        </p:nvSpPr>
        <p:spPr>
          <a:xfrm>
            <a:off x="3394710" y="2889052"/>
            <a:ext cx="415588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23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TT</a:t>
            </a:r>
            <a:endParaRPr lang="en-US" sz="2325" dirty="0"/>
          </a:p>
        </p:txBody>
      </p:sp>
      <p:sp>
        <p:nvSpPr>
          <p:cNvPr id="40" name="Shape 38"/>
          <p:cNvSpPr/>
          <p:nvPr/>
        </p:nvSpPr>
        <p:spPr>
          <a:xfrm>
            <a:off x="5345907" y="2910959"/>
            <a:ext cx="470059" cy="302895"/>
          </a:xfrm>
          <a:prstGeom prst="roundRect">
            <a:avLst>
              <a:gd name="adj" fmla="val 50000"/>
            </a:avLst>
          </a:prstGeom>
          <a:solidFill>
            <a:srgbClr val="3FBCD4">
              <a:alpha val="13000"/>
            </a:srgbClr>
          </a:solidFill>
          <a:ln w="7620">
            <a:solidFill>
              <a:srgbClr val="3FBCD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5454492" y="2957632"/>
            <a:ext cx="123528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50" dirty="0"/>
          </a:p>
        </p:txBody>
      </p:sp>
      <p:sp>
        <p:nvSpPr>
          <p:cNvPr id="42" name="Text 40"/>
          <p:cNvSpPr/>
          <p:nvPr/>
        </p:nvSpPr>
        <p:spPr>
          <a:xfrm>
            <a:off x="5617191" y="2969062"/>
            <a:ext cx="12829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2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3394710" y="3283387"/>
            <a:ext cx="2493893" cy="3836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(+1)·(+1) = </a:t>
            </a:r>
            <a:r>
              <a:rPr lang="en-US" sz="10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bool </a:t>
            </a: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concordi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maglia attraversa da </a:t>
            </a:r>
            <a:r>
              <a:rPr lang="en-US" sz="1088" b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88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088" dirty="0"/>
          </a:p>
        </p:txBody>
      </p:sp>
      <p:sp>
        <p:nvSpPr>
          <p:cNvPr id="44" name="Shape 42"/>
          <p:cNvSpPr/>
          <p:nvPr/>
        </p:nvSpPr>
        <p:spPr>
          <a:xfrm>
            <a:off x="6019800" y="2745105"/>
            <a:ext cx="2695575" cy="1046798"/>
          </a:xfrm>
          <a:prstGeom prst="roundRect">
            <a:avLst>
              <a:gd name="adj" fmla="val 72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5" name="Text 43"/>
          <p:cNvSpPr/>
          <p:nvPr/>
        </p:nvSpPr>
        <p:spPr>
          <a:xfrm>
            <a:off x="6156960" y="2889052"/>
            <a:ext cx="389632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23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TF</a:t>
            </a:r>
            <a:endParaRPr lang="en-US" sz="2325" dirty="0"/>
          </a:p>
        </p:txBody>
      </p:sp>
      <p:sp>
        <p:nvSpPr>
          <p:cNvPr id="46" name="Shape 44"/>
          <p:cNvSpPr/>
          <p:nvPr/>
        </p:nvSpPr>
        <p:spPr>
          <a:xfrm>
            <a:off x="8108157" y="2910959"/>
            <a:ext cx="470059" cy="302895"/>
          </a:xfrm>
          <a:prstGeom prst="roundRect">
            <a:avLst>
              <a:gd name="adj" fmla="val 50000"/>
            </a:avLst>
          </a:prstGeom>
          <a:solidFill>
            <a:srgbClr val="E0A458">
              <a:alpha val="13000"/>
            </a:srgbClr>
          </a:solidFill>
          <a:ln w="7620">
            <a:solidFill>
              <a:srgbClr val="E0A45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/>
          <p:cNvSpPr/>
          <p:nvPr/>
        </p:nvSpPr>
        <p:spPr>
          <a:xfrm>
            <a:off x="8216742" y="2957632"/>
            <a:ext cx="123528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50" dirty="0"/>
          </a:p>
        </p:txBody>
      </p:sp>
      <p:sp>
        <p:nvSpPr>
          <p:cNvPr id="48" name="Text 46"/>
          <p:cNvSpPr/>
          <p:nvPr/>
        </p:nvSpPr>
        <p:spPr>
          <a:xfrm>
            <a:off x="8379441" y="2969062"/>
            <a:ext cx="12829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2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6156960" y="3283387"/>
            <a:ext cx="2493893" cy="3836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(+1)·(−1)= </a:t>
            </a:r>
            <a:r>
              <a:rPr lang="en-US" sz="10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bool </a:t>
            </a: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discordi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maglia attraversa da </a:t>
            </a:r>
            <a:r>
              <a:rPr lang="en-US" sz="1088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88" b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088" dirty="0"/>
          </a:p>
        </p:txBody>
      </p:sp>
      <p:sp>
        <p:nvSpPr>
          <p:cNvPr id="50" name="Shape 48"/>
          <p:cNvSpPr/>
          <p:nvPr/>
        </p:nvSpPr>
        <p:spPr>
          <a:xfrm>
            <a:off x="428625" y="3858578"/>
            <a:ext cx="2762250" cy="1046798"/>
          </a:xfrm>
          <a:prstGeom prst="roundRect">
            <a:avLst>
              <a:gd name="adj" fmla="val 72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2" name="Text 50"/>
          <p:cNvSpPr/>
          <p:nvPr/>
        </p:nvSpPr>
        <p:spPr>
          <a:xfrm>
            <a:off x="539479" y="3962877"/>
            <a:ext cx="695051" cy="1600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38" i="1" dirty="0">
                <a:solidFill>
                  <a:srgbClr val="7E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3 &lt; to 4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1201103" y="4204812"/>
            <a:ext cx="318135" cy="318135"/>
          </a:xfrm>
          <a:prstGeom prst="ellipse">
            <a:avLst/>
          </a:prstGeom>
          <a:solidFill>
            <a:srgbClr val="0D1B2E"/>
          </a:solidFill>
          <a:ln w="22860">
            <a:solidFill>
              <a:srgbClr val="E0A458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54" name="Text 52"/>
          <p:cNvSpPr/>
          <p:nvPr/>
        </p:nvSpPr>
        <p:spPr>
          <a:xfrm>
            <a:off x="1193483" y="4216242"/>
            <a:ext cx="333375" cy="3143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algn="ctr"/>
            <a:r>
              <a:rPr lang="en-US" sz="11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25" dirty="0"/>
          </a:p>
        </p:txBody>
      </p:sp>
      <p:sp>
        <p:nvSpPr>
          <p:cNvPr id="55" name="Shape 53"/>
          <p:cNvSpPr/>
          <p:nvPr/>
        </p:nvSpPr>
        <p:spPr>
          <a:xfrm>
            <a:off x="1519238" y="4356735"/>
            <a:ext cx="209550" cy="14288"/>
          </a:xfrm>
          <a:prstGeom prst="rect">
            <a:avLst/>
          </a:prstGeom>
          <a:solidFill>
            <a:srgbClr val="3A587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6" name="Text 54"/>
          <p:cNvSpPr/>
          <p:nvPr/>
        </p:nvSpPr>
        <p:spPr>
          <a:xfrm>
            <a:off x="1685925" y="4006691"/>
            <a:ext cx="139661" cy="2209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E0A4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1350" dirty="0"/>
          </a:p>
        </p:txBody>
      </p:sp>
      <p:sp>
        <p:nvSpPr>
          <p:cNvPr id="57" name="Text 55"/>
          <p:cNvSpPr/>
          <p:nvPr/>
        </p:nvSpPr>
        <p:spPr>
          <a:xfrm>
            <a:off x="1844159" y="4016216"/>
            <a:ext cx="122754" cy="18669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125" b="1" dirty="0">
                <a:solidFill>
                  <a:srgbClr val="7E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1728788" y="4197191"/>
            <a:ext cx="23813" cy="333375"/>
          </a:xfrm>
          <a:prstGeom prst="roundRect">
            <a:avLst>
              <a:gd name="adj" fmla="val 40000"/>
            </a:avLst>
          </a:prstGeom>
          <a:solidFill>
            <a:srgbClr val="E6EDF3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9" name="Shape 57"/>
          <p:cNvSpPr/>
          <p:nvPr/>
        </p:nvSpPr>
        <p:spPr>
          <a:xfrm>
            <a:off x="1828800" y="4278154"/>
            <a:ext cx="61913" cy="171450"/>
          </a:xfrm>
          <a:prstGeom prst="roundRect">
            <a:avLst>
              <a:gd name="adj" fmla="val 15385"/>
            </a:avLst>
          </a:prstGeom>
          <a:solidFill>
            <a:srgbClr val="9FB6C9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0" name="Shape 58"/>
          <p:cNvSpPr/>
          <p:nvPr/>
        </p:nvSpPr>
        <p:spPr>
          <a:xfrm>
            <a:off x="1890713" y="4356735"/>
            <a:ext cx="209550" cy="14288"/>
          </a:xfrm>
          <a:prstGeom prst="rect">
            <a:avLst/>
          </a:prstGeom>
          <a:solidFill>
            <a:srgbClr val="3A587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1" name="Shape 59"/>
          <p:cNvSpPr/>
          <p:nvPr/>
        </p:nvSpPr>
        <p:spPr>
          <a:xfrm>
            <a:off x="2100263" y="4204812"/>
            <a:ext cx="318135" cy="318135"/>
          </a:xfrm>
          <a:prstGeom prst="ellipse">
            <a:avLst/>
          </a:prstGeom>
          <a:solidFill>
            <a:srgbClr val="0D1B2E"/>
          </a:solidFill>
          <a:ln w="2286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2" name="Text 60"/>
          <p:cNvSpPr/>
          <p:nvPr/>
        </p:nvSpPr>
        <p:spPr>
          <a:xfrm>
            <a:off x="2092643" y="4216242"/>
            <a:ext cx="333375" cy="3143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ctr">
            <a:normAutofit/>
          </a:bodyPr>
          <a:lstStyle/>
          <a:p>
            <a:pPr algn="ctr"/>
            <a:r>
              <a:rPr lang="en-US" sz="1125" b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25" dirty="0"/>
          </a:p>
        </p:txBody>
      </p:sp>
      <p:sp>
        <p:nvSpPr>
          <p:cNvPr id="63" name="Text 61"/>
          <p:cNvSpPr/>
          <p:nvPr/>
        </p:nvSpPr>
        <p:spPr>
          <a:xfrm>
            <a:off x="1191465" y="4615339"/>
            <a:ext cx="658642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algn="ctr"/>
            <a:r>
              <a:rPr lang="en-US" sz="112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oriented =</a:t>
            </a:r>
            <a:endParaRPr lang="en-US" sz="1125" dirty="0"/>
          </a:p>
        </p:txBody>
      </p:sp>
      <p:sp>
        <p:nvSpPr>
          <p:cNvPr id="64" name="Shape 62"/>
          <p:cNvSpPr/>
          <p:nvPr/>
        </p:nvSpPr>
        <p:spPr>
          <a:xfrm>
            <a:off x="1877318" y="4587716"/>
            <a:ext cx="520780" cy="230505"/>
          </a:xfrm>
          <a:prstGeom prst="roundRect">
            <a:avLst>
              <a:gd name="adj" fmla="val 50000"/>
            </a:avLst>
          </a:prstGeom>
          <a:solidFill>
            <a:srgbClr val="E0A458">
              <a:alpha val="13000"/>
            </a:srgbClr>
          </a:solidFill>
          <a:ln w="7620">
            <a:solidFill>
              <a:srgbClr val="E0A45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5" name="Text 63"/>
          <p:cNvSpPr/>
          <p:nvPr/>
        </p:nvSpPr>
        <p:spPr>
          <a:xfrm>
            <a:off x="1947803" y="4615339"/>
            <a:ext cx="379810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pPr algn="ctr"/>
            <a:r>
              <a:rPr lang="en-US" sz="1125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</a:t>
            </a:r>
            <a:endParaRPr lang="en-US" sz="1125" dirty="0"/>
          </a:p>
        </p:txBody>
      </p:sp>
      <p:sp>
        <p:nvSpPr>
          <p:cNvPr id="66" name="Shape 64"/>
          <p:cNvSpPr/>
          <p:nvPr/>
        </p:nvSpPr>
        <p:spPr>
          <a:xfrm>
            <a:off x="3257550" y="3858578"/>
            <a:ext cx="2695575" cy="1046798"/>
          </a:xfrm>
          <a:prstGeom prst="roundRect">
            <a:avLst>
              <a:gd name="adj" fmla="val 72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7" name="Text 65"/>
          <p:cNvSpPr/>
          <p:nvPr/>
        </p:nvSpPr>
        <p:spPr>
          <a:xfrm>
            <a:off x="3394710" y="4002524"/>
            <a:ext cx="389632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23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FT</a:t>
            </a:r>
            <a:endParaRPr lang="en-US" sz="2325" dirty="0"/>
          </a:p>
        </p:txBody>
      </p:sp>
      <p:sp>
        <p:nvSpPr>
          <p:cNvPr id="68" name="Shape 66"/>
          <p:cNvSpPr/>
          <p:nvPr/>
        </p:nvSpPr>
        <p:spPr>
          <a:xfrm>
            <a:off x="5345907" y="4024432"/>
            <a:ext cx="470059" cy="302895"/>
          </a:xfrm>
          <a:prstGeom prst="roundRect">
            <a:avLst>
              <a:gd name="adj" fmla="val 50000"/>
            </a:avLst>
          </a:prstGeom>
          <a:solidFill>
            <a:srgbClr val="E0A458">
              <a:alpha val="13000"/>
            </a:srgbClr>
          </a:solidFill>
          <a:ln w="7620">
            <a:solidFill>
              <a:srgbClr val="E0A45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9" name="Text 67"/>
          <p:cNvSpPr/>
          <p:nvPr/>
        </p:nvSpPr>
        <p:spPr>
          <a:xfrm>
            <a:off x="5454492" y="4071104"/>
            <a:ext cx="123528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350" dirty="0"/>
          </a:p>
        </p:txBody>
      </p:sp>
      <p:sp>
        <p:nvSpPr>
          <p:cNvPr id="70" name="Text 68"/>
          <p:cNvSpPr/>
          <p:nvPr/>
        </p:nvSpPr>
        <p:spPr>
          <a:xfrm>
            <a:off x="5617191" y="4082534"/>
            <a:ext cx="12829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20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71" name="Text 69"/>
          <p:cNvSpPr/>
          <p:nvPr/>
        </p:nvSpPr>
        <p:spPr>
          <a:xfrm>
            <a:off x="3394710" y="4396859"/>
            <a:ext cx="2493893" cy="3836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(−1)·(+1)= </a:t>
            </a:r>
            <a:r>
              <a:rPr lang="en-US" sz="10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bool </a:t>
            </a: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discordi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maglia attraversa da </a:t>
            </a:r>
            <a:r>
              <a:rPr lang="en-US" sz="1088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88" b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</a:t>
            </a:r>
            <a:endParaRPr lang="en-US" sz="1088" dirty="0"/>
          </a:p>
        </p:txBody>
      </p:sp>
      <p:sp>
        <p:nvSpPr>
          <p:cNvPr id="72" name="Shape 70"/>
          <p:cNvSpPr/>
          <p:nvPr/>
        </p:nvSpPr>
        <p:spPr>
          <a:xfrm>
            <a:off x="6019800" y="3858578"/>
            <a:ext cx="2695575" cy="1046798"/>
          </a:xfrm>
          <a:prstGeom prst="roundRect">
            <a:avLst>
              <a:gd name="adj" fmla="val 72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3" name="Text 71"/>
          <p:cNvSpPr/>
          <p:nvPr/>
        </p:nvSpPr>
        <p:spPr>
          <a:xfrm>
            <a:off x="6156960" y="4002524"/>
            <a:ext cx="363677" cy="3657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23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FF</a:t>
            </a:r>
            <a:endParaRPr lang="en-US" sz="2325" dirty="0"/>
          </a:p>
        </p:txBody>
      </p:sp>
      <p:sp>
        <p:nvSpPr>
          <p:cNvPr id="74" name="Shape 72"/>
          <p:cNvSpPr/>
          <p:nvPr/>
        </p:nvSpPr>
        <p:spPr>
          <a:xfrm>
            <a:off x="8108157" y="4024432"/>
            <a:ext cx="470059" cy="302895"/>
          </a:xfrm>
          <a:prstGeom prst="roundRect">
            <a:avLst>
              <a:gd name="adj" fmla="val 50000"/>
            </a:avLst>
          </a:prstGeom>
          <a:solidFill>
            <a:srgbClr val="3FBCD4">
              <a:alpha val="13000"/>
            </a:srgbClr>
          </a:solidFill>
          <a:ln w="7620">
            <a:solidFill>
              <a:srgbClr val="3FBCD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5" name="Text 73"/>
          <p:cNvSpPr/>
          <p:nvPr/>
        </p:nvSpPr>
        <p:spPr>
          <a:xfrm>
            <a:off x="8216742" y="4071104"/>
            <a:ext cx="123528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350" dirty="0"/>
          </a:p>
        </p:txBody>
      </p:sp>
      <p:sp>
        <p:nvSpPr>
          <p:cNvPr id="76" name="Text 74"/>
          <p:cNvSpPr/>
          <p:nvPr/>
        </p:nvSpPr>
        <p:spPr>
          <a:xfrm>
            <a:off x="8379441" y="4082534"/>
            <a:ext cx="12829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20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200" dirty="0"/>
          </a:p>
        </p:txBody>
      </p:sp>
      <p:sp>
        <p:nvSpPr>
          <p:cNvPr id="77" name="Text 75"/>
          <p:cNvSpPr/>
          <p:nvPr/>
        </p:nvSpPr>
        <p:spPr>
          <a:xfrm>
            <a:off x="6156960" y="4396859"/>
            <a:ext cx="2493893" cy="3836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2000"/>
              </a:lnSpc>
            </a:pP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(−1)·(−1) = </a:t>
            </a:r>
            <a:r>
              <a:rPr lang="en-US" sz="1088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bool </a:t>
            </a: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concordi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maglia attraversa da </a:t>
            </a:r>
            <a:r>
              <a:rPr lang="en-US" sz="1088" b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088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08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8625" y="333851"/>
            <a:ext cx="71438" cy="7143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576263" y="276225"/>
            <a:ext cx="2542366" cy="20574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200" b="1" kern="0" spc="225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SCELTA PROGETTUALE · 02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28625" y="529590"/>
            <a:ext cx="9115425" cy="38356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03000"/>
              </a:lnSpc>
            </a:pPr>
            <a:r>
              <a:rPr lang="en-US" sz="26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</a:t>
            </a:r>
            <a:r>
              <a:rPr lang="en-US" sz="2625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intero</a:t>
            </a:r>
            <a:r>
              <a:rPr lang="en-US" sz="26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4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</a:t>
            </a:r>
            <a:r>
              <a:rPr lang="en-US" sz="2625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 riga ed etichetta</a:t>
            </a:r>
            <a:endParaRPr lang="en-US" sz="2625" dirty="0"/>
          </a:p>
        </p:txBody>
      </p:sp>
      <p:sp>
        <p:nvSpPr>
          <p:cNvPr id="5" name="Text 3"/>
          <p:cNvSpPr/>
          <p:nvPr/>
        </p:nvSpPr>
        <p:spPr>
          <a:xfrm>
            <a:off x="428625" y="951250"/>
            <a:ext cx="8241030" cy="45791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28000"/>
              </a:lnSpc>
            </a:pPr>
            <a:r>
              <a:rPr lang="en-US" sz="13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Scelta inusuale ma più corta: il numero della netlist indicizza le righe di </a:t>
            </a:r>
            <a:r>
              <a:rPr lang="en-US" sz="1350" i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</a:t>
            </a:r>
            <a:r>
              <a:rPr lang="en-US" sz="13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</a:t>
            </a:r>
            <a:r>
              <a:rPr lang="en-US" sz="1350" i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</a:t>
            </a:r>
            <a:r>
              <a:rPr lang="en-US" sz="13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niente mappa </a:t>
            </a:r>
            <a:r>
              <a:rPr lang="en-US" sz="1125" dirty="0">
                <a:solidFill>
                  <a:srgbClr val="9FB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 → </a:t>
            </a:r>
            <a:r>
              <a:rPr lang="en-US" sz="1125" dirty="0" err="1">
                <a:solidFill>
                  <a:srgbClr val="9FB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428625" y="1475840"/>
            <a:ext cx="388680" cy="272415"/>
          </a:xfrm>
          <a:prstGeom prst="roundRect">
            <a:avLst>
              <a:gd name="adj" fmla="val 209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37210" y="1532037"/>
            <a:ext cx="209610" cy="17907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r>
              <a:rPr lang="en-US" sz="1125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1125" dirty="0"/>
          </a:p>
        </p:txBody>
      </p:sp>
      <p:sp>
        <p:nvSpPr>
          <p:cNvPr id="8" name="Text 6"/>
          <p:cNvSpPr/>
          <p:nvPr/>
        </p:nvSpPr>
        <p:spPr>
          <a:xfrm>
            <a:off x="903030" y="1540610"/>
            <a:ext cx="167462" cy="161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r>
              <a:rPr lang="en-US" sz="1125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25" dirty="0"/>
          </a:p>
        </p:txBody>
      </p:sp>
      <p:sp>
        <p:nvSpPr>
          <p:cNvPr id="9" name="Shape 7"/>
          <p:cNvSpPr/>
          <p:nvPr/>
        </p:nvSpPr>
        <p:spPr>
          <a:xfrm>
            <a:off x="1118116" y="1475840"/>
            <a:ext cx="1160324" cy="272415"/>
          </a:xfrm>
          <a:prstGeom prst="roundRect">
            <a:avLst>
              <a:gd name="adj" fmla="val 20979"/>
            </a:avLst>
          </a:prstGeom>
          <a:solidFill>
            <a:srgbClr val="16304B"/>
          </a:solidFill>
          <a:ln w="7620">
            <a:solidFill>
              <a:srgbClr val="3FBCD4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226701" y="1532037"/>
            <a:ext cx="981254" cy="17907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/>
          </a:bodyPr>
          <a:lstStyle/>
          <a:p>
            <a:r>
              <a:rPr lang="en-US" sz="1125" b="1" dirty="0">
                <a:solidFill>
                  <a:srgbClr val="3F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number_ = 0</a:t>
            </a:r>
            <a:endParaRPr lang="en-US" sz="1125" dirty="0"/>
          </a:p>
        </p:txBody>
      </p:sp>
      <p:sp>
        <p:nvSpPr>
          <p:cNvPr id="11" name="Text 9"/>
          <p:cNvSpPr/>
          <p:nvPr/>
        </p:nvSpPr>
        <p:spPr>
          <a:xfrm>
            <a:off x="2364165" y="1492985"/>
            <a:ext cx="426482" cy="10477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r>
              <a:rPr lang="en-US" sz="675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doppio uso</a:t>
            </a:r>
            <a:endParaRPr lang="en-US" sz="675" dirty="0"/>
          </a:p>
        </p:txBody>
      </p:sp>
      <p:sp>
        <p:nvSpPr>
          <p:cNvPr id="12" name="Text 10"/>
          <p:cNvSpPr/>
          <p:nvPr/>
        </p:nvSpPr>
        <p:spPr>
          <a:xfrm>
            <a:off x="2493645" y="1588235"/>
            <a:ext cx="167462" cy="16192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r>
              <a:rPr lang="en-US" sz="1125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125" dirty="0"/>
          </a:p>
        </p:txBody>
      </p:sp>
      <p:sp>
        <p:nvSpPr>
          <p:cNvPr id="13" name="Shape 11"/>
          <p:cNvSpPr/>
          <p:nvPr/>
        </p:nvSpPr>
        <p:spPr>
          <a:xfrm>
            <a:off x="2838272" y="1475840"/>
            <a:ext cx="614363" cy="272415"/>
          </a:xfrm>
          <a:prstGeom prst="roundRect">
            <a:avLst>
              <a:gd name="adj" fmla="val 19231"/>
            </a:avLst>
          </a:prstGeom>
          <a:solidFill>
            <a:srgbClr val="3FBCD4">
              <a:alpha val="12000"/>
            </a:srgbClr>
          </a:solidFill>
          <a:ln w="7620">
            <a:solidFill>
              <a:srgbClr val="3FBCD4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2"/>
          <p:cNvSpPr/>
          <p:nvPr/>
        </p:nvSpPr>
        <p:spPr>
          <a:xfrm>
            <a:off x="2946857" y="1532037"/>
            <a:ext cx="775335" cy="17907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05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riga 0 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554552" y="1524417"/>
            <a:ext cx="109300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125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125" dirty="0"/>
          </a:p>
        </p:txBody>
      </p:sp>
      <p:sp>
        <p:nvSpPr>
          <p:cNvPr id="16" name="Shape 14"/>
          <p:cNvSpPr/>
          <p:nvPr/>
        </p:nvSpPr>
        <p:spPr>
          <a:xfrm>
            <a:off x="3722192" y="1475840"/>
            <a:ext cx="919699" cy="272415"/>
          </a:xfrm>
          <a:prstGeom prst="roundRect">
            <a:avLst>
              <a:gd name="adj" fmla="val 19231"/>
            </a:avLst>
          </a:prstGeom>
          <a:solidFill>
            <a:srgbClr val="E0A458">
              <a:alpha val="12000"/>
            </a:srgbClr>
          </a:solidFill>
          <a:ln w="7620">
            <a:solidFill>
              <a:srgbClr val="E0A458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it-IT" sz="900"/>
          </a:p>
        </p:txBody>
      </p:sp>
      <p:sp>
        <p:nvSpPr>
          <p:cNvPr id="17" name="Text 15"/>
          <p:cNvSpPr/>
          <p:nvPr/>
        </p:nvSpPr>
        <p:spPr>
          <a:xfrm>
            <a:off x="3799906" y="1524417"/>
            <a:ext cx="740629" cy="179070"/>
          </a:xfrm>
          <a:prstGeom prst="rect">
            <a:avLst/>
          </a:prstGeom>
          <a:noFill/>
          <a:ln/>
        </p:spPr>
        <p:txBody>
          <a:bodyPr wrap="none" lIns="12700" tIns="12700" rIns="12700" bIns="12700" rtlCol="0" anchor="t">
            <a:normAutofit lnSpcReduction="10000"/>
          </a:bodyPr>
          <a:lstStyle/>
          <a:p>
            <a:r>
              <a:rPr lang="en-US" sz="10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→ R1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28625" y="1843504"/>
            <a:ext cx="4886325" cy="1483281"/>
          </a:xfrm>
          <a:prstGeom prst="roundRect">
            <a:avLst>
              <a:gd name="adj" fmla="val 57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584835" y="2035433"/>
            <a:ext cx="61913" cy="61913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708660" y="1961615"/>
            <a:ext cx="677043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Vantaggi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84835" y="2247365"/>
            <a:ext cx="137994" cy="19240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0000"/>
              </a:lnSpc>
            </a:pPr>
            <a:r>
              <a:rPr lang="en-US" sz="105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51404" y="2247365"/>
            <a:ext cx="4696474" cy="1985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intero, doppio uso —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niente mappa né vettore parallelo da sincronizzare.</a:t>
            </a:r>
            <a:endParaRPr lang="en-US" sz="1088" dirty="0"/>
          </a:p>
        </p:txBody>
      </p:sp>
      <p:sp>
        <p:nvSpPr>
          <p:cNvPr id="23" name="Text 21"/>
          <p:cNvSpPr/>
          <p:nvPr/>
        </p:nvSpPr>
        <p:spPr>
          <a:xfrm>
            <a:off x="584835" y="2568287"/>
            <a:ext cx="137994" cy="19240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0000"/>
              </a:lnSpc>
            </a:pPr>
            <a:r>
              <a:rPr lang="en-US" sz="105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51404" y="2575963"/>
            <a:ext cx="4076468" cy="1985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banale —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etichetta = </a:t>
            </a:r>
            <a:r>
              <a:rPr lang="en-US" sz="938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number()+1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input↔output diretto.</a:t>
            </a:r>
            <a:endParaRPr lang="en-US" sz="1088" dirty="0"/>
          </a:p>
        </p:txBody>
      </p:sp>
      <p:sp>
        <p:nvSpPr>
          <p:cNvPr id="25" name="Text 23"/>
          <p:cNvSpPr/>
          <p:nvPr/>
        </p:nvSpPr>
        <p:spPr>
          <a:xfrm>
            <a:off x="596286" y="2908680"/>
            <a:ext cx="91457" cy="180286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85000" lnSpcReduction="10000"/>
          </a:bodyPr>
          <a:lstStyle/>
          <a:p>
            <a:pPr>
              <a:lnSpc>
                <a:spcPct val="130000"/>
              </a:lnSpc>
            </a:pPr>
            <a:r>
              <a:rPr lang="en-US" sz="105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54085" y="2906971"/>
            <a:ext cx="3479120" cy="1985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Auto-documentante —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riga </a:t>
            </a:r>
            <a:r>
              <a:rPr lang="en-US" sz="938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</a:t>
            </a:r>
            <a:r>
              <a:rPr lang="en-US" sz="938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R(k+1)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riusa il parser.</a:t>
            </a:r>
            <a:endParaRPr lang="en-US" sz="1088" dirty="0"/>
          </a:p>
        </p:txBody>
      </p:sp>
      <p:sp>
        <p:nvSpPr>
          <p:cNvPr id="27" name="Shape 25"/>
          <p:cNvSpPr/>
          <p:nvPr/>
        </p:nvSpPr>
        <p:spPr>
          <a:xfrm>
            <a:off x="428625" y="3431560"/>
            <a:ext cx="4886325" cy="1483340"/>
          </a:xfrm>
          <a:prstGeom prst="roundRect">
            <a:avLst>
              <a:gd name="adj" fmla="val 5779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8" name="Shape 26"/>
          <p:cNvSpPr/>
          <p:nvPr/>
        </p:nvSpPr>
        <p:spPr>
          <a:xfrm>
            <a:off x="584835" y="3623489"/>
            <a:ext cx="61913" cy="61913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708660" y="3549670"/>
            <a:ext cx="749469" cy="2286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3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Svantaggi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584835" y="3835420"/>
            <a:ext cx="81558" cy="19240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0000"/>
              </a:lnSpc>
            </a:pPr>
            <a:r>
              <a:rPr lang="en-US" sz="10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94968" y="3835420"/>
            <a:ext cx="4597686" cy="378143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0000"/>
              </a:lnSpc>
            </a:pP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Richiede numerazione contigua </a:t>
            </a:r>
            <a:r>
              <a:rPr lang="en-US" sz="938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{0…m−1} </a:t>
            </a: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buchi o duplicati = righe nulle o fuori range.</a:t>
            </a:r>
            <a:endParaRPr lang="en-US" sz="1088" dirty="0"/>
          </a:p>
        </p:txBody>
      </p:sp>
      <p:sp>
        <p:nvSpPr>
          <p:cNvPr id="32" name="Text 30"/>
          <p:cNvSpPr/>
          <p:nvPr/>
        </p:nvSpPr>
        <p:spPr>
          <a:xfrm>
            <a:off x="584835" y="4199716"/>
            <a:ext cx="81558" cy="19240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0000"/>
              </a:lnSpc>
            </a:pPr>
            <a:r>
              <a:rPr lang="en-US" sz="10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694968" y="4199716"/>
            <a:ext cx="4519077" cy="1985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Invariante retto solo da </a:t>
            </a:r>
            <a:r>
              <a:rPr lang="en-US" sz="938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 </a:t>
            </a: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spariscono in Release → UB silenzioso.</a:t>
            </a:r>
            <a:endParaRPr lang="en-US" sz="1088" dirty="0"/>
          </a:p>
        </p:txBody>
      </p:sp>
      <p:sp>
        <p:nvSpPr>
          <p:cNvPr id="34" name="Text 32"/>
          <p:cNvSpPr/>
          <p:nvPr/>
        </p:nvSpPr>
        <p:spPr>
          <a:xfrm>
            <a:off x="584835" y="4526459"/>
            <a:ext cx="81558" cy="192405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20000"/>
          </a:bodyPr>
          <a:lstStyle/>
          <a:p>
            <a:pPr>
              <a:lnSpc>
                <a:spcPct val="130000"/>
              </a:lnSpc>
            </a:pPr>
            <a:r>
              <a:rPr lang="en-US" sz="1050" b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94968" y="4526459"/>
            <a:ext cx="4063437" cy="198597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1088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Accoppia il layout della matrice </a:t>
            </a:r>
            <a:r>
              <a:rPr lang="en-US" sz="1088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un'etichetta destinata all'utente.</a:t>
            </a:r>
            <a:endParaRPr lang="en-US" sz="1088" dirty="0"/>
          </a:p>
        </p:txBody>
      </p:sp>
      <p:sp>
        <p:nvSpPr>
          <p:cNvPr id="36" name="Shape 34"/>
          <p:cNvSpPr/>
          <p:nvPr/>
        </p:nvSpPr>
        <p:spPr>
          <a:xfrm>
            <a:off x="5457825" y="1843505"/>
            <a:ext cx="3257550" cy="1489711"/>
          </a:xfrm>
          <a:prstGeom prst="roundRect">
            <a:avLst>
              <a:gd name="adj" fmla="val 5464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37" name="Text 35"/>
          <p:cNvSpPr/>
          <p:nvPr/>
        </p:nvSpPr>
        <p:spPr>
          <a:xfrm>
            <a:off x="5585460" y="1952090"/>
            <a:ext cx="3302508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1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considerate</a:t>
            </a:r>
            <a:endParaRPr lang="en-US" sz="1125" dirty="0"/>
          </a:p>
        </p:txBody>
      </p:sp>
      <p:sp>
        <p:nvSpPr>
          <p:cNvPr id="38" name="Text 36"/>
          <p:cNvSpPr/>
          <p:nvPr/>
        </p:nvSpPr>
        <p:spPr>
          <a:xfrm>
            <a:off x="5585460" y="2189262"/>
            <a:ext cx="1714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125" b="1" dirty="0">
                <a:solidFill>
                  <a:srgbClr val="3F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125" dirty="0"/>
          </a:p>
        </p:txBody>
      </p:sp>
      <p:sp>
        <p:nvSpPr>
          <p:cNvPr id="39" name="Text 37"/>
          <p:cNvSpPr/>
          <p:nvPr/>
        </p:nvSpPr>
        <p:spPr>
          <a:xfrm>
            <a:off x="5785485" y="2189262"/>
            <a:ext cx="2886323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38" b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Indice surrogato denso </a:t>
            </a:r>
            <a:r>
              <a:rPr lang="en-US" sz="9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contatore interno + etichetta a parte. Robusto, ma più stato.</a:t>
            </a:r>
            <a:endParaRPr lang="en-US" sz="600" dirty="0"/>
          </a:p>
        </p:txBody>
      </p:sp>
      <p:sp>
        <p:nvSpPr>
          <p:cNvPr id="40" name="Shape 38"/>
          <p:cNvSpPr/>
          <p:nvPr/>
        </p:nvSpPr>
        <p:spPr>
          <a:xfrm>
            <a:off x="5585460" y="2536924"/>
            <a:ext cx="3002280" cy="4763"/>
          </a:xfrm>
          <a:prstGeom prst="rect">
            <a:avLst/>
          </a:prstGeom>
          <a:solidFill>
            <a:srgbClr val="2C4C6B">
              <a:alpha val="6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1" name="Text 39"/>
          <p:cNvSpPr/>
          <p:nvPr/>
        </p:nvSpPr>
        <p:spPr>
          <a:xfrm>
            <a:off x="5585460" y="2603599"/>
            <a:ext cx="1714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125" b="1" dirty="0">
                <a:solidFill>
                  <a:srgbClr val="3F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125" dirty="0"/>
          </a:p>
        </p:txBody>
      </p:sp>
      <p:sp>
        <p:nvSpPr>
          <p:cNvPr id="42" name="Text 40"/>
          <p:cNvSpPr/>
          <p:nvPr/>
        </p:nvSpPr>
        <p:spPr>
          <a:xfrm>
            <a:off x="5785485" y="2603599"/>
            <a:ext cx="2886323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38" b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</a:t>
            </a:r>
            <a:r>
              <a:rPr lang="en-US" sz="825" b="1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 → riga </a:t>
            </a:r>
            <a:r>
              <a:rPr lang="en-US" sz="9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flessibile, ma container extra e lookup O(log m).</a:t>
            </a:r>
            <a:endParaRPr lang="en-US" sz="600" dirty="0"/>
          </a:p>
        </p:txBody>
      </p:sp>
      <p:sp>
        <p:nvSpPr>
          <p:cNvPr id="43" name="Shape 41"/>
          <p:cNvSpPr/>
          <p:nvPr/>
        </p:nvSpPr>
        <p:spPr>
          <a:xfrm>
            <a:off x="5585460" y="2951262"/>
            <a:ext cx="3002280" cy="4763"/>
          </a:xfrm>
          <a:prstGeom prst="rect">
            <a:avLst/>
          </a:prstGeom>
          <a:solidFill>
            <a:srgbClr val="2C4C6B">
              <a:alpha val="6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4" name="Text 42"/>
          <p:cNvSpPr/>
          <p:nvPr/>
        </p:nvSpPr>
        <p:spPr>
          <a:xfrm>
            <a:off x="5585460" y="3017937"/>
            <a:ext cx="171450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125" b="1" dirty="0">
                <a:solidFill>
                  <a:srgbClr val="3FBC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125" dirty="0"/>
          </a:p>
        </p:txBody>
      </p:sp>
      <p:sp>
        <p:nvSpPr>
          <p:cNvPr id="45" name="Text 43"/>
          <p:cNvSpPr/>
          <p:nvPr/>
        </p:nvSpPr>
        <p:spPr>
          <a:xfrm>
            <a:off x="5785485" y="3017937"/>
            <a:ext cx="2886323" cy="30480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938" b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Righe via </a:t>
            </a:r>
            <a:r>
              <a:rPr lang="en-US" sz="825" b="1" dirty="0">
                <a:solidFill>
                  <a:srgbClr val="CFDC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edge_number </a:t>
            </a:r>
            <a:r>
              <a:rPr lang="en-US" sz="9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un solo spazio di indici, ma mischia R e V → ricade in A</a:t>
            </a:r>
            <a:endParaRPr lang="en-US" sz="600" dirty="0"/>
          </a:p>
        </p:txBody>
      </p:sp>
      <p:sp>
        <p:nvSpPr>
          <p:cNvPr id="46" name="Shape 44"/>
          <p:cNvSpPr/>
          <p:nvPr/>
        </p:nvSpPr>
        <p:spPr>
          <a:xfrm>
            <a:off x="5457825" y="3431560"/>
            <a:ext cx="3257550" cy="1473100"/>
          </a:xfrm>
          <a:prstGeom prst="roundRect">
            <a:avLst>
              <a:gd name="adj" fmla="val 5725"/>
            </a:avLst>
          </a:prstGeom>
          <a:solidFill>
            <a:srgbClr val="16304B"/>
          </a:solidFill>
          <a:ln w="762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47" name="Text 45"/>
          <p:cNvSpPr/>
          <p:nvPr/>
        </p:nvSpPr>
        <p:spPr>
          <a:xfrm>
            <a:off x="5585460" y="3574674"/>
            <a:ext cx="3302508" cy="19431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112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spazi di </a:t>
            </a:r>
            <a:r>
              <a:rPr lang="en-US" sz="1125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indici</a:t>
            </a:r>
            <a:endParaRPr lang="en-US" sz="1125" dirty="0"/>
          </a:p>
        </p:txBody>
      </p:sp>
      <p:sp>
        <p:nvSpPr>
          <p:cNvPr id="48" name="Text 46"/>
          <p:cNvSpPr/>
          <p:nvPr/>
        </p:nvSpPr>
        <p:spPr>
          <a:xfrm>
            <a:off x="5585460" y="3792797"/>
            <a:ext cx="3092349" cy="31623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pPr>
              <a:lnSpc>
                <a:spcPct val="130000"/>
              </a:lnSpc>
            </a:pPr>
            <a:r>
              <a:rPr lang="en-US" sz="788" dirty="0">
                <a:solidFill>
                  <a:srgbClr val="3F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number() </a:t>
            </a:r>
            <a:r>
              <a:rPr lang="en-US" sz="9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riga pubblica · </a:t>
            </a:r>
            <a:r>
              <a:rPr lang="en-US" sz="788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edge_number </a:t>
            </a:r>
            <a:r>
              <a:rPr lang="en-US" sz="9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chiave di join. </a:t>
            </a:r>
            <a:r>
              <a:rPr lang="en-US" sz="900" b="1" dirty="0">
                <a:solidFill>
                  <a:srgbClr val="CF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coincidono.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5460" y="4399062"/>
            <a:ext cx="667167" cy="4763"/>
          </a:xfrm>
          <a:prstGeom prst="rect">
            <a:avLst/>
          </a:prstGeom>
          <a:solidFill>
            <a:srgbClr val="2C4C6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0" name="Text 48"/>
          <p:cNvSpPr/>
          <p:nvPr/>
        </p:nvSpPr>
        <p:spPr>
          <a:xfrm>
            <a:off x="5614035" y="4250472"/>
            <a:ext cx="648117" cy="12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713" b="1" kern="0" spc="19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</a:t>
            </a:r>
            <a:endParaRPr lang="en-US" sz="713" dirty="0"/>
          </a:p>
        </p:txBody>
      </p:sp>
      <p:sp>
        <p:nvSpPr>
          <p:cNvPr id="51" name="Shape 49"/>
          <p:cNvSpPr/>
          <p:nvPr/>
        </p:nvSpPr>
        <p:spPr>
          <a:xfrm>
            <a:off x="6252627" y="4399062"/>
            <a:ext cx="867311" cy="4763"/>
          </a:xfrm>
          <a:prstGeom prst="rect">
            <a:avLst/>
          </a:prstGeom>
          <a:solidFill>
            <a:srgbClr val="2C4C6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2" name="Text 50"/>
          <p:cNvSpPr/>
          <p:nvPr/>
        </p:nvSpPr>
        <p:spPr>
          <a:xfrm>
            <a:off x="6281202" y="4250472"/>
            <a:ext cx="848261" cy="12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713" b="1" kern="0" spc="19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riga · num()</a:t>
            </a:r>
            <a:endParaRPr lang="en-US" sz="713" dirty="0"/>
          </a:p>
        </p:txBody>
      </p:sp>
      <p:sp>
        <p:nvSpPr>
          <p:cNvPr id="53" name="Shape 51"/>
          <p:cNvSpPr/>
          <p:nvPr/>
        </p:nvSpPr>
        <p:spPr>
          <a:xfrm>
            <a:off x="7119938" y="4399062"/>
            <a:ext cx="667167" cy="4763"/>
          </a:xfrm>
          <a:prstGeom prst="rect">
            <a:avLst/>
          </a:prstGeom>
          <a:solidFill>
            <a:srgbClr val="2C4C6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4" name="Text 52"/>
          <p:cNvSpPr/>
          <p:nvPr/>
        </p:nvSpPr>
        <p:spPr>
          <a:xfrm>
            <a:off x="7148513" y="4250472"/>
            <a:ext cx="648117" cy="12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713" b="1" kern="0" spc="19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ARCO</a:t>
            </a:r>
            <a:endParaRPr lang="en-US" sz="713" dirty="0"/>
          </a:p>
        </p:txBody>
      </p:sp>
      <p:sp>
        <p:nvSpPr>
          <p:cNvPr id="55" name="Shape 53"/>
          <p:cNvSpPr/>
          <p:nvPr/>
        </p:nvSpPr>
        <p:spPr>
          <a:xfrm>
            <a:off x="7787105" y="4399062"/>
            <a:ext cx="800636" cy="4763"/>
          </a:xfrm>
          <a:prstGeom prst="rect">
            <a:avLst/>
          </a:prstGeom>
          <a:solidFill>
            <a:srgbClr val="2C4C6B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6" name="Text 54"/>
          <p:cNvSpPr/>
          <p:nvPr/>
        </p:nvSpPr>
        <p:spPr>
          <a:xfrm>
            <a:off x="7815680" y="4250472"/>
            <a:ext cx="781586" cy="12954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lnSpcReduction="10000"/>
          </a:bodyPr>
          <a:lstStyle/>
          <a:p>
            <a:r>
              <a:rPr lang="en-US" sz="713" b="1" kern="0" spc="19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edge_num</a:t>
            </a:r>
            <a:endParaRPr lang="en-US" sz="713" dirty="0"/>
          </a:p>
        </p:txBody>
      </p:sp>
      <p:sp>
        <p:nvSpPr>
          <p:cNvPr id="57" name="Shape 55"/>
          <p:cNvSpPr/>
          <p:nvPr/>
        </p:nvSpPr>
        <p:spPr>
          <a:xfrm>
            <a:off x="5585460" y="4652427"/>
            <a:ext cx="667167" cy="4763"/>
          </a:xfrm>
          <a:prstGeom prst="rect">
            <a:avLst/>
          </a:prstGeom>
          <a:solidFill>
            <a:srgbClr val="2C4C6B">
              <a:alpha val="5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8" name="Text 56"/>
          <p:cNvSpPr/>
          <p:nvPr/>
        </p:nvSpPr>
        <p:spPr>
          <a:xfrm>
            <a:off x="5614035" y="4445734"/>
            <a:ext cx="648117" cy="1828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R1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6252627" y="4640997"/>
            <a:ext cx="867311" cy="4763"/>
          </a:xfrm>
          <a:prstGeom prst="rect">
            <a:avLst/>
          </a:prstGeom>
          <a:solidFill>
            <a:srgbClr val="2C4C6B">
              <a:alpha val="5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0" name="Text 58"/>
          <p:cNvSpPr/>
          <p:nvPr/>
        </p:nvSpPr>
        <p:spPr>
          <a:xfrm>
            <a:off x="6281202" y="4457165"/>
            <a:ext cx="848261" cy="1600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r>
              <a:rPr lang="en-US" sz="975" b="1" dirty="0">
                <a:solidFill>
                  <a:srgbClr val="3F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7119938" y="4652427"/>
            <a:ext cx="667167" cy="4763"/>
          </a:xfrm>
          <a:prstGeom prst="rect">
            <a:avLst/>
          </a:prstGeom>
          <a:solidFill>
            <a:srgbClr val="2C4C6B">
              <a:alpha val="5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2" name="Text 60"/>
          <p:cNvSpPr/>
          <p:nvPr/>
        </p:nvSpPr>
        <p:spPr>
          <a:xfrm>
            <a:off x="7148513" y="4445734"/>
            <a:ext cx="648117" cy="1828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r>
              <a:rPr lang="en-US" sz="975" dirty="0">
                <a:solidFill>
                  <a:srgbClr val="9FB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(2,4)</a:t>
            </a:r>
            <a:endParaRPr lang="en-US" sz="975" dirty="0"/>
          </a:p>
        </p:txBody>
      </p:sp>
      <p:sp>
        <p:nvSpPr>
          <p:cNvPr id="63" name="Shape 61"/>
          <p:cNvSpPr/>
          <p:nvPr/>
        </p:nvSpPr>
        <p:spPr>
          <a:xfrm>
            <a:off x="7787105" y="4652427"/>
            <a:ext cx="800636" cy="4763"/>
          </a:xfrm>
          <a:prstGeom prst="rect">
            <a:avLst/>
          </a:prstGeom>
          <a:solidFill>
            <a:srgbClr val="2C4C6B">
              <a:alpha val="5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4" name="Text 62"/>
          <p:cNvSpPr/>
          <p:nvPr/>
        </p:nvSpPr>
        <p:spPr>
          <a:xfrm>
            <a:off x="7815680" y="4445734"/>
            <a:ext cx="781586" cy="1828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r>
              <a:rPr lang="en-US" sz="975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975" dirty="0"/>
          </a:p>
        </p:txBody>
      </p:sp>
      <p:sp>
        <p:nvSpPr>
          <p:cNvPr id="65" name="Text 63"/>
          <p:cNvSpPr/>
          <p:nvPr/>
        </p:nvSpPr>
        <p:spPr>
          <a:xfrm>
            <a:off x="5614035" y="4699099"/>
            <a:ext cx="648117" cy="1828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r>
              <a:rPr lang="en-US" sz="975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R2</a:t>
            </a:r>
            <a:endParaRPr lang="en-US" sz="975" dirty="0"/>
          </a:p>
        </p:txBody>
      </p:sp>
      <p:sp>
        <p:nvSpPr>
          <p:cNvPr id="66" name="Text 64"/>
          <p:cNvSpPr/>
          <p:nvPr/>
        </p:nvSpPr>
        <p:spPr>
          <a:xfrm>
            <a:off x="6281202" y="4710530"/>
            <a:ext cx="848261" cy="16002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 fontScale="92500" lnSpcReduction="10000"/>
          </a:bodyPr>
          <a:lstStyle/>
          <a:p>
            <a:r>
              <a:rPr lang="en-US" sz="975" b="1" dirty="0">
                <a:solidFill>
                  <a:srgbClr val="3FBC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975" dirty="0"/>
          </a:p>
        </p:txBody>
      </p:sp>
      <p:sp>
        <p:nvSpPr>
          <p:cNvPr id="67" name="Text 65"/>
          <p:cNvSpPr/>
          <p:nvPr/>
        </p:nvSpPr>
        <p:spPr>
          <a:xfrm>
            <a:off x="7148513" y="4699099"/>
            <a:ext cx="648117" cy="1828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r>
              <a:rPr lang="en-US" sz="975" dirty="0">
                <a:solidFill>
                  <a:srgbClr val="9FB6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(1,2)</a:t>
            </a:r>
            <a:endParaRPr lang="en-US" sz="975" dirty="0"/>
          </a:p>
        </p:txBody>
      </p:sp>
      <p:sp>
        <p:nvSpPr>
          <p:cNvPr id="68" name="Text 66"/>
          <p:cNvSpPr/>
          <p:nvPr/>
        </p:nvSpPr>
        <p:spPr>
          <a:xfrm>
            <a:off x="7815680" y="4699099"/>
            <a:ext cx="781586" cy="182880"/>
          </a:xfrm>
          <a:prstGeom prst="rect">
            <a:avLst/>
          </a:prstGeom>
          <a:noFill/>
          <a:ln/>
        </p:spPr>
        <p:txBody>
          <a:bodyPr wrap="square" lIns="12700" tIns="12700" rIns="12700" bIns="12700" rtlCol="0" anchor="t">
            <a:normAutofit/>
          </a:bodyPr>
          <a:lstStyle/>
          <a:p>
            <a:r>
              <a:rPr lang="en-US" sz="975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97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2"/>
          <p:cNvSpPr/>
          <p:nvPr/>
        </p:nvSpPr>
        <p:spPr>
          <a:xfrm>
            <a:off x="2339703" y="347091"/>
            <a:ext cx="746324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Le </a:t>
            </a:r>
            <a:r>
              <a:rPr lang="en-US" sz="3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maglie</a:t>
            </a:r>
            <a:r>
              <a:rPr lang="en-US" sz="3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come </a:t>
            </a:r>
            <a:r>
              <a:rPr lang="en-US" sz="3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cicli</a:t>
            </a:r>
            <a:r>
              <a:rPr lang="en-US" sz="3200" b="1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di un </a:t>
            </a:r>
            <a:r>
              <a:rPr lang="en-US" sz="3200" b="1" dirty="0" err="1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grafo</a:t>
            </a:r>
            <a:endParaRPr lang="en-US" sz="3200" b="1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502920" y="1353312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numero di maglie indipendenti è fisso; cambia quali cicli scegliamo.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8138160" cy="713232"/>
          </a:xfrm>
          <a:prstGeom prst="roundRect">
            <a:avLst>
              <a:gd name="adj" fmla="val 11538"/>
            </a:avLst>
          </a:prstGeom>
          <a:solidFill>
            <a:srgbClr val="1E3D5C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502920" y="1783080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|E| − |V| + 1</a:t>
            </a:r>
            <a:r>
              <a:rPr lang="en-US" sz="130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maglie indipendenti — la dimensione non cambia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3931920" cy="1600200"/>
          </a:xfrm>
          <a:prstGeom prst="roundRect">
            <a:avLst>
              <a:gd name="adj" fmla="val 5143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Shape 7"/>
          <p:cNvSpPr/>
          <p:nvPr/>
        </p:nvSpPr>
        <p:spPr>
          <a:xfrm>
            <a:off x="731520" y="2926080"/>
            <a:ext cx="502920" cy="502920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" y="3001518"/>
            <a:ext cx="352044" cy="35204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371600" y="2953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 + coalbero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371600" y="32461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albero di supporto + archi residui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25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veloce, costo quasi-lineare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✗"/>
            </a:pPr>
            <a:r>
              <a:rPr lang="en-US" sz="125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cicli non garantiti minimi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4709160" y="2697480"/>
            <a:ext cx="3931920" cy="1600200"/>
          </a:xfrm>
          <a:prstGeom prst="roundRect">
            <a:avLst>
              <a:gd name="adj" fmla="val 5143"/>
            </a:avLst>
          </a:prstGeom>
          <a:solidFill>
            <a:srgbClr val="16304B"/>
          </a:solidFill>
          <a:ln w="19050">
            <a:solidFill>
              <a:srgbClr val="E0A458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15" name="Shape 12"/>
          <p:cNvSpPr/>
          <p:nvPr/>
        </p:nvSpPr>
        <p:spPr>
          <a:xfrm>
            <a:off x="4937760" y="2926080"/>
            <a:ext cx="502920" cy="502920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3198" y="3001518"/>
            <a:ext cx="352044" cy="35204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577840" y="29535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Pina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577840" y="324612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di cicli minima (in GF(2))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5029200" y="365760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✓"/>
            </a:pPr>
            <a:r>
              <a:rPr lang="en-US" sz="125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 i cicli più corti</a:t>
            </a:r>
            <a:endParaRPr lang="en-US" sz="1250" dirty="0"/>
          </a:p>
          <a:p>
            <a:pPr marL="342900" indent="-342900">
              <a:spcAft>
                <a:spcPts val="300"/>
              </a:spcAft>
              <a:buSzPct val="100000"/>
              <a:buChar char="✗"/>
            </a:pPr>
            <a:r>
              <a:rPr lang="en-US" sz="1250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computazionale molto più alto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502920" y="4462272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E0A4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Stessa firma: il resto del codice non cambia di una riga. Le mettiamo a confronto nelle prossime slide.</a:t>
            </a:r>
            <a:endParaRPr lang="en-US" sz="1350" dirty="0"/>
          </a:p>
        </p:txBody>
      </p:sp>
      <p:pic>
        <p:nvPicPr>
          <p:cNvPr id="21" name="Image 0" descr="preencoded.png">
            <a:extLst>
              <a:ext uri="{FF2B5EF4-FFF2-40B4-BE49-F238E27FC236}">
                <a16:creationId xmlns:a16="http://schemas.microsoft.com/office/drawing/2014/main" id="{3E25573D-F323-8338-0521-3EF9C54EB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097" y="54102"/>
            <a:ext cx="1609725" cy="139065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29425" y="3034284"/>
            <a:ext cx="3238500" cy="2286000"/>
          </a:xfrm>
          <a:prstGeom prst="rect">
            <a:avLst/>
          </a:prstGeom>
          <a:gradFill rotWithShape="1">
            <a:gsLst>
              <a:gs pos="0">
                <a:srgbClr val="4472C4">
                  <a:alpha val="13000"/>
                </a:srgbClr>
              </a:gs>
              <a:gs pos="100000">
                <a:srgbClr val="4472C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143500" y="2857500"/>
            <a:ext cx="3429000" cy="2286000"/>
          </a:xfrm>
          <a:prstGeom prst="rect">
            <a:avLst/>
          </a:prstGeom>
          <a:gradFill rotWithShape="1">
            <a:gsLst>
              <a:gs pos="0">
                <a:srgbClr val="ED7D31">
                  <a:alpha val="12000"/>
                </a:srgbClr>
              </a:gs>
              <a:gs pos="100000">
                <a:srgbClr val="ED7D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" y="85725"/>
            <a:ext cx="1609725" cy="139065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76475" y="285750"/>
            <a:ext cx="4905375" cy="7848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25" b="1" i="0" u="none" strike="noStrike" kern="0" cap="none" spc="8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Lo scoglio teorico: DFS e De Pina per le maglie</a:t>
            </a:r>
            <a:endParaRPr kumimoji="0" lang="en-US" sz="26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3"/>
          <p:cNvSpPr/>
          <p:nvPr/>
        </p:nvSpPr>
        <p:spPr>
          <a:xfrm>
            <a:off x="628650" y="1767976"/>
            <a:ext cx="3335655" cy="1055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13" b="0" i="0" u="none" strike="noStrike" kern="1200" cap="none" spc="0" normalizeH="0" baseline="0" noProof="0" dirty="0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Abbiamo sfruttato il </a:t>
            </a:r>
            <a:r>
              <a:rPr kumimoji="0" lang="en-US" sz="1300" b="1" i="0" u="none" strike="noStrike" kern="1200" cap="none" spc="0" normalizeH="0" baseline="0" noProof="0" dirty="0" err="1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recursive_df</a:t>
            </a: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472C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313" b="0" i="0" u="none" strike="noStrike" kern="1200" cap="none" spc="0" normalizeH="0" baseline="0" noProof="0" dirty="0" err="1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sviluppato</a:t>
            </a:r>
            <a:r>
              <a:rPr kumimoji="0" lang="en-US" sz="1313" b="0" i="0" u="none" strike="noStrike" kern="1200" cap="none" spc="0" normalizeH="0" baseline="0" noProof="0" dirty="0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nelle esercitazioni, calcolando poi il co‑albero dell’albero di visita e di seguito i </a:t>
            </a:r>
            <a:r>
              <a:rPr kumimoji="0" lang="en-US" sz="131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cicli fondamentali</a:t>
            </a:r>
            <a:endParaRPr kumimoji="0" lang="en-US" sz="131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4"/>
          <p:cNvSpPr/>
          <p:nvPr/>
        </p:nvSpPr>
        <p:spPr>
          <a:xfrm>
            <a:off x="5444490" y="1368913"/>
            <a:ext cx="2943225" cy="180355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13" b="0" i="0" u="none" strike="noStrike" kern="1200" cap="none" spc="0" normalizeH="0" baseline="0" noProof="0" dirty="0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Per </a:t>
            </a:r>
            <a:r>
              <a:rPr kumimoji="0" lang="en-US" sz="1313" b="0" i="0" u="none" strike="noStrike" kern="1200" cap="none" spc="0" normalizeH="0" baseline="0" noProof="0" dirty="0" err="1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l’applicazione</a:t>
            </a:r>
            <a:r>
              <a:rPr kumimoji="0" lang="en-US" sz="1313" b="0" i="0" u="none" strike="noStrike" kern="1200" cap="none" spc="0" normalizeH="0" baseline="0" noProof="0" dirty="0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di De Pina è stato richiesto uno studio dell’algebra del gruppo di Galois</a:t>
            </a:r>
            <a:r>
              <a:rPr lang="en-US" sz="1313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</a:t>
            </a:r>
            <a:r>
              <a:rPr lang="en-US" sz="1313" dirty="0" err="1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Viene</a:t>
            </a:r>
            <a:r>
              <a:rPr lang="en-US" sz="1313" dirty="0">
                <a:solidFill>
                  <a:srgbClr val="E9ED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1313" b="0" i="0" u="none" strike="noStrike" kern="1200" cap="none" spc="0" normalizeH="0" baseline="0" noProof="0" dirty="0" err="1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applicato</a:t>
            </a:r>
            <a:r>
              <a:rPr kumimoji="0" lang="en-US" sz="1313" b="0" i="0" u="none" strike="noStrike" kern="1200" cap="none" spc="0" normalizeH="0" baseline="0" noProof="0" dirty="0">
                <a:ln>
                  <a:noFill/>
                </a:ln>
                <a:solidFill>
                  <a:srgbClr val="E9EDF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un BFS per la ricerca dei cammini minimi sul grafo liftato </a:t>
            </a:r>
            <a:r>
              <a:rPr kumimoji="0" lang="en-US" sz="131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(cicli minimi)</a:t>
            </a:r>
            <a:endParaRPr kumimoji="0" lang="en-US" sz="131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5"/>
          <p:cNvSpPr/>
          <p:nvPr/>
        </p:nvSpPr>
        <p:spPr>
          <a:xfrm>
            <a:off x="552450" y="3143250"/>
            <a:ext cx="3120390" cy="1805940"/>
          </a:xfrm>
          <a:prstGeom prst="roundRect">
            <a:avLst>
              <a:gd name="adj" fmla="val 6329"/>
            </a:avLst>
          </a:prstGeom>
          <a:solidFill>
            <a:srgbClr val="FFFFFF">
              <a:alpha val="3000"/>
            </a:srgbClr>
          </a:solidFill>
          <a:ln w="7620">
            <a:solidFill>
              <a:srgbClr val="E0A040">
                <a:alpha val="20000"/>
              </a:srgbClr>
            </a:solidFill>
            <a:prstDash val="solid"/>
          </a:ln>
          <a:effectLst>
            <a:outerShdw blurRad="228600" dist="762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6"/>
          <p:cNvSpPr/>
          <p:nvPr/>
        </p:nvSpPr>
        <p:spPr>
          <a:xfrm>
            <a:off x="693420" y="3265170"/>
            <a:ext cx="429101" cy="175260"/>
          </a:xfrm>
          <a:prstGeom prst="roundRect">
            <a:avLst>
              <a:gd name="adj" fmla="val 50000"/>
            </a:avLst>
          </a:prstGeom>
          <a:solidFill>
            <a:srgbClr val="4472C4">
              <a:alpha val="22000"/>
            </a:srgbClr>
          </a:solidFill>
          <a:ln w="7620">
            <a:solidFill>
              <a:srgbClr val="4472C4">
                <a:alpha val="45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786765" y="3291840"/>
            <a:ext cx="285321" cy="160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3" b="1" i="0" u="none" strike="noStrike" kern="0" cap="none" spc="45" normalizeH="0" baseline="0" noProof="0" dirty="0">
                <a:ln>
                  <a:noFill/>
                </a:ln>
                <a:solidFill>
                  <a:srgbClr val="9FBEF2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DPS</a:t>
            </a:r>
            <a:endParaRPr kumimoji="0" lang="en-US" sz="86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8"/>
          <p:cNvSpPr/>
          <p:nvPr/>
        </p:nvSpPr>
        <p:spPr>
          <a:xfrm>
            <a:off x="1189196" y="3299460"/>
            <a:ext cx="1366361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3" b="1" i="0" u="none" strike="noStrike" kern="0" cap="none" spc="30" normalizeH="0" baseline="0" noProof="0" dirty="0">
                <a:ln>
                  <a:noFill/>
                </a:ln>
                <a:solidFill>
                  <a:srgbClr val="9FB0C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ALBERO + CO‑ALBERO</a:t>
            </a:r>
            <a:endParaRPr kumimoji="0" lang="en-US" sz="86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3895" y="3474720"/>
            <a:ext cx="2857500" cy="12192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7192" y="4962525"/>
            <a:ext cx="3415665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8E9DB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i due cicli fondamentali si sovrappongono (ℓ=4 ⊃ ℓ=3)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0"/>
          <p:cNvSpPr/>
          <p:nvPr/>
        </p:nvSpPr>
        <p:spPr>
          <a:xfrm>
            <a:off x="5486400" y="3143250"/>
            <a:ext cx="3120390" cy="1805940"/>
          </a:xfrm>
          <a:prstGeom prst="roundRect">
            <a:avLst>
              <a:gd name="adj" fmla="val 6329"/>
            </a:avLst>
          </a:prstGeom>
          <a:solidFill>
            <a:srgbClr val="FFFFFF">
              <a:alpha val="3000"/>
            </a:srgbClr>
          </a:solidFill>
          <a:ln w="7620">
            <a:solidFill>
              <a:srgbClr val="E0A040">
                <a:alpha val="20000"/>
              </a:srgbClr>
            </a:solidFill>
            <a:prstDash val="solid"/>
          </a:ln>
          <a:effectLst>
            <a:outerShdw blurRad="228600" dist="762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1"/>
          <p:cNvSpPr/>
          <p:nvPr/>
        </p:nvSpPr>
        <p:spPr>
          <a:xfrm>
            <a:off x="5627370" y="3265170"/>
            <a:ext cx="664845" cy="175260"/>
          </a:xfrm>
          <a:prstGeom prst="roundRect">
            <a:avLst>
              <a:gd name="adj" fmla="val 50000"/>
            </a:avLst>
          </a:prstGeom>
          <a:solidFill>
            <a:srgbClr val="ED7D31">
              <a:alpha val="22000"/>
            </a:srgbClr>
          </a:solidFill>
          <a:ln w="7620">
            <a:solidFill>
              <a:srgbClr val="ED7D31">
                <a:alpha val="50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5720715" y="3291840"/>
            <a:ext cx="544640" cy="16002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3" b="1" i="0" u="none" strike="noStrike" kern="0" cap="none" spc="45" normalizeH="0" baseline="0" noProof="0" dirty="0">
                <a:ln>
                  <a:noFill/>
                </a:ln>
                <a:solidFill>
                  <a:srgbClr val="F4B183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DE PINA</a:t>
            </a:r>
            <a:endParaRPr kumimoji="0" lang="en-US" sz="86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6358890" y="3291840"/>
            <a:ext cx="1326475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3" b="1" i="0" u="none" strike="noStrike" kern="0" cap="none" spc="30" normalizeH="0" baseline="0" noProof="0" dirty="0">
                <a:ln>
                  <a:noFill/>
                </a:ln>
                <a:solidFill>
                  <a:srgbClr val="9FB0C7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CAMMINI MINIMI (BFS)</a:t>
            </a:r>
            <a:endParaRPr kumimoji="0" lang="en-US" sz="86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617845" y="3474720"/>
            <a:ext cx="2857500" cy="121920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331143" y="4962525"/>
            <a:ext cx="3415665" cy="167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1" u="none" strike="noStrike" kern="1200" cap="none" spc="0" normalizeH="0" baseline="0" noProof="0" dirty="0">
                <a:ln>
                  <a:noFill/>
                </a:ln>
                <a:solidFill>
                  <a:srgbClr val="8E9DB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due triangoli disgiunti (ℓ=3): base di cicli minimi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56524" y="1875192"/>
            <a:ext cx="4000500" cy="2857500"/>
          </a:xfrm>
          <a:prstGeom prst="rect">
            <a:avLst/>
          </a:prstGeom>
          <a:gradFill rotWithShape="1">
            <a:gsLst>
              <a:gs pos="0">
                <a:srgbClr val="3FBCD4">
                  <a:alpha val="12000"/>
                </a:srgbClr>
              </a:gs>
              <a:gs pos="100000">
                <a:srgbClr val="3FBCD4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"/>
          <p:cNvSpPr/>
          <p:nvPr/>
        </p:nvSpPr>
        <p:spPr>
          <a:xfrm>
            <a:off x="4710638" y="2072640"/>
            <a:ext cx="4000500" cy="3048000"/>
          </a:xfrm>
          <a:prstGeom prst="rect">
            <a:avLst/>
          </a:prstGeom>
          <a:gradFill rotWithShape="1">
            <a:gsLst>
              <a:gs pos="0">
                <a:srgbClr val="E0A458">
                  <a:alpha val="13000"/>
                </a:srgbClr>
              </a:gs>
              <a:gs pos="100000">
                <a:srgbClr val="E0A458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/>
          <p:nvPr/>
        </p:nvSpPr>
        <p:spPr>
          <a:xfrm>
            <a:off x="495300" y="514350"/>
            <a:ext cx="9010650" cy="3839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32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A = B</a:t>
            </a:r>
            <a:r>
              <a:rPr kumimoji="0" lang="en-US" sz="1279" b="1" i="0" u="none" strike="noStrike" kern="1200" cap="none" spc="0" normalizeH="0" baseline="3000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T</a:t>
            </a:r>
            <a:r>
              <a:rPr kumimoji="0" lang="en-US" sz="232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RB è </a:t>
            </a:r>
            <a:r>
              <a:rPr kumimoji="0" lang="en-US" sz="2325" b="1" i="0" u="none" strike="noStrike" kern="1200" cap="none" spc="0" normalizeH="0" baseline="0" noProof="0" dirty="0">
                <a:ln>
                  <a:noFill/>
                </a:ln>
                <a:solidFill>
                  <a:srgbClr val="3FBCD4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SPD </a:t>
            </a:r>
            <a:r>
              <a:rPr kumimoji="0" lang="en-US" sz="2325" b="0" i="0" u="none" strike="noStrike" kern="1200" cap="none" spc="0" normalizeH="0" baseline="0" noProof="0" dirty="0">
                <a:ln>
                  <a:noFill/>
                </a:ln>
                <a:solidFill>
                  <a:srgbClr val="7C93A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→ </a:t>
            </a:r>
            <a:r>
              <a:rPr kumimoji="0" lang="en-US" sz="2325" b="1" i="0" u="none" strike="noStrike" kern="1200" cap="none" spc="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Gradiente Coniugato</a:t>
            </a:r>
            <a:endParaRPr kumimoji="0" lang="en-US" sz="23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495300" y="933450"/>
            <a:ext cx="9010650" cy="2209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63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Assemblato il Sistema, ci </a:t>
            </a:r>
            <a:r>
              <a:rPr kumimoji="0" lang="en-US" sz="1163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si</a:t>
            </a:r>
            <a:r>
              <a:rPr kumimoji="0" lang="en-US" sz="1163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1163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accorge</a:t>
            </a:r>
            <a:r>
              <a:rPr kumimoji="0" lang="en-US" sz="1163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1163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facilmente</a:t>
            </a:r>
            <a:r>
              <a:rPr kumimoji="0" lang="en-US" sz="1163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delle sue </a:t>
            </a:r>
            <a:r>
              <a:rPr kumimoji="0" lang="en-US" sz="1163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proprietà</a:t>
            </a:r>
            <a:r>
              <a:rPr kumimoji="0" lang="en-US" sz="1163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1163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eccezionali</a:t>
            </a:r>
            <a:r>
              <a:rPr kumimoji="0" lang="en-US" sz="1163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kumimoji="0" lang="en-US" sz="116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1187502" y="1219200"/>
            <a:ext cx="6088509" cy="796290"/>
          </a:xfrm>
          <a:prstGeom prst="roundRect">
            <a:avLst>
              <a:gd name="adj" fmla="val 14354"/>
            </a:avLst>
          </a:prstGeom>
          <a:solidFill>
            <a:srgbClr val="FFFFFF">
              <a:alpha val="3000"/>
            </a:srgbClr>
          </a:solidFill>
          <a:ln w="7620">
            <a:solidFill>
              <a:srgbClr val="3FBCD4">
                <a:alpha val="18000"/>
              </a:srgbClr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22972" y="1253490"/>
            <a:ext cx="323850" cy="5334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2764869" y="1844040"/>
            <a:ext cx="516374" cy="17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3FBCD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</a:t>
            </a: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m×n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376494" y="1483995"/>
            <a:ext cx="210979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7C93A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×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862864" y="129159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82722" y="1805940"/>
            <a:ext cx="893683" cy="17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</a:t>
            </a: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diagonale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9"/>
          <p:cNvSpPr/>
          <p:nvPr/>
        </p:nvSpPr>
        <p:spPr>
          <a:xfrm>
            <a:off x="4671655" y="1483995"/>
            <a:ext cx="28575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50" b="0" i="0" u="none" strike="noStrike" kern="1200" cap="none" spc="0" normalizeH="0" baseline="0" noProof="0" dirty="0">
                <a:ln>
                  <a:noFill/>
                </a:ln>
                <a:solidFill>
                  <a:srgbClr val="7C93AC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kumimoji="0" lang="en-US" sz="165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61491" y="1291590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052656" y="1805940"/>
            <a:ext cx="951190" cy="1752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= BᵀRB </a:t>
            </a:r>
            <a:r>
              <a:rPr kumimoji="0" lang="en-US" sz="82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 n×n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2"/>
          <p:cNvSpPr/>
          <p:nvPr/>
        </p:nvSpPr>
        <p:spPr>
          <a:xfrm>
            <a:off x="384691" y="2439521"/>
            <a:ext cx="4876800" cy="2381250"/>
          </a:xfrm>
          <a:prstGeom prst="roundRect">
            <a:avLst>
              <a:gd name="adj" fmla="val 5600"/>
            </a:avLst>
          </a:prstGeom>
          <a:solidFill>
            <a:srgbClr val="FFFFFF">
              <a:alpha val="3000"/>
            </a:srgbClr>
          </a:solidFill>
          <a:ln w="7620">
            <a:solidFill>
              <a:srgbClr val="3FBCD4">
                <a:alpha val="20000"/>
              </a:srgbClr>
            </a:solidFill>
            <a:prstDash val="solid"/>
          </a:ln>
          <a:effectLst>
            <a:outerShdw blurRad="228600" dist="762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3"/>
          <p:cNvSpPr/>
          <p:nvPr/>
        </p:nvSpPr>
        <p:spPr>
          <a:xfrm>
            <a:off x="586285" y="2490228"/>
            <a:ext cx="4928616" cy="1600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63" b="1" i="0" u="none" strike="noStrike" kern="0" cap="none" spc="120" normalizeH="0" baseline="0" noProof="0" dirty="0">
                <a:ln>
                  <a:noFill/>
                </a:ln>
                <a:solidFill>
                  <a:srgbClr val="3FBCD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PERCHÉ A È SPD</a:t>
            </a:r>
            <a:endParaRPr kumimoji="0" lang="en-US" sz="86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7903" y="2880248"/>
            <a:ext cx="609600" cy="609600"/>
          </a:xfrm>
          <a:prstGeom prst="rect">
            <a:avLst/>
          </a:prstGeom>
        </p:spPr>
      </p:pic>
      <p:sp>
        <p:nvSpPr>
          <p:cNvPr id="20" name="Shape 14"/>
          <p:cNvSpPr/>
          <p:nvPr/>
        </p:nvSpPr>
        <p:spPr>
          <a:xfrm>
            <a:off x="1348285" y="2851225"/>
            <a:ext cx="76200" cy="76200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1500685" y="2797885"/>
            <a:ext cx="8620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3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Simmetrica</a:t>
            </a:r>
            <a:endParaRPr kumimoji="0" lang="en-US" sz="12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1346380" y="2978300"/>
            <a:ext cx="1693307" cy="609600"/>
          </a:xfrm>
          <a:prstGeom prst="rect">
            <a:avLst/>
          </a:prstGeom>
          <a:noFill/>
          <a:ln/>
        </p:spPr>
        <p:txBody>
          <a:bodyPr wrap="non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38" b="0" i="0" u="none" strike="noStrike" kern="1200" cap="none" spc="0" normalizeH="0" baseline="0" noProof="0" dirty="0">
                <a:ln>
                  <a:noFill/>
                </a:ln>
                <a:solidFill>
                  <a:srgbClr val="C7D6E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Aᵀ = (BᵀRB)ᵀ = Bᵀ</a:t>
            </a:r>
            <a:r>
              <a:rPr kumimoji="0" lang="en-US" sz="938" b="0" i="0" u="none" strike="noStrike" kern="1200" cap="none" spc="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Rᵀ</a:t>
            </a:r>
            <a:r>
              <a:rPr kumimoji="0" lang="en-US" sz="938" b="0" i="0" u="none" strike="noStrike" kern="1200" cap="none" spc="0" normalizeH="0" baseline="0" noProof="0" dirty="0">
                <a:ln>
                  <a:noFill/>
                </a:ln>
                <a:solidFill>
                  <a:srgbClr val="C7D6E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Bᵀ</a:t>
            </a:r>
            <a:r>
              <a:rPr kumimoji="0" lang="en-US" sz="938" b="0" i="0" u="none" strike="noStrike" kern="1200" cap="none" spc="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</a:t>
            </a:r>
            <a:r>
              <a:rPr kumimoji="0" lang="en-US" sz="938" b="0" i="0" u="none" strike="noStrike" kern="1200" cap="none" spc="0" normalizeH="0" baseline="0" noProof="0" dirty="0">
                <a:ln>
                  <a:noFill/>
                </a:ln>
                <a:solidFill>
                  <a:srgbClr val="C7D6E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= A</a:t>
            </a:r>
            <a:endParaRPr kumimoji="0" lang="en-US" sz="9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1348285" y="3295090"/>
            <a:ext cx="1778818" cy="190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Rᵀ = R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perché R è diagonale.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18"/>
          <p:cNvSpPr/>
          <p:nvPr/>
        </p:nvSpPr>
        <p:spPr>
          <a:xfrm>
            <a:off x="567235" y="3855160"/>
            <a:ext cx="4480560" cy="9525"/>
          </a:xfrm>
          <a:prstGeom prst="rect">
            <a:avLst/>
          </a:prstGeom>
          <a:solidFill>
            <a:srgbClr val="FFFFFF">
              <a:alpha val="8000"/>
            </a:srgbClr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2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86285" y="4085665"/>
            <a:ext cx="609600" cy="609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1348285" y="3992320"/>
            <a:ext cx="76200" cy="76200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0"/>
          <p:cNvSpPr/>
          <p:nvPr/>
        </p:nvSpPr>
        <p:spPr>
          <a:xfrm>
            <a:off x="1500685" y="3965762"/>
            <a:ext cx="1185386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38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Definita positiva</a:t>
            </a:r>
            <a:endParaRPr kumimoji="0" lang="en-US" sz="1238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1"/>
          <p:cNvSpPr/>
          <p:nvPr/>
        </p:nvSpPr>
        <p:spPr>
          <a:xfrm>
            <a:off x="1348285" y="4188759"/>
            <a:ext cx="2826830" cy="182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13" b="0" i="0" u="none" strike="noStrike" kern="1200" cap="none" spc="0" normalizeH="0" baseline="0" noProof="0" dirty="0">
                <a:ln>
                  <a:noFill/>
                </a:ln>
                <a:solidFill>
                  <a:srgbClr val="C7D6E4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xᵀAx = (Bx)ᵀR(Bx) &gt; 0</a:t>
            </a:r>
            <a:endParaRPr kumimoji="0" lang="en-US" sz="101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2"/>
          <p:cNvSpPr/>
          <p:nvPr/>
        </p:nvSpPr>
        <p:spPr>
          <a:xfrm>
            <a:off x="1348285" y="4405705"/>
            <a:ext cx="2826830" cy="2057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7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 </a:t>
            </a:r>
            <a:r>
              <a:rPr kumimoji="0" lang="en-US" sz="975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definita</a:t>
            </a:r>
            <a:r>
              <a:rPr kumimoji="0" lang="en-US" sz="97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975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positiva</a:t>
            </a:r>
            <a:r>
              <a:rPr kumimoji="0" lang="en-US" sz="97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e B di </a:t>
            </a:r>
            <a:r>
              <a:rPr kumimoji="0" lang="en-US" sz="975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rango</a:t>
            </a:r>
            <a:r>
              <a:rPr kumimoji="0" lang="en-US" sz="97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kumimoji="0" lang="en-US" sz="975" b="0" i="0" u="none" strike="noStrike" kern="1200" cap="none" spc="0" normalizeH="0" baseline="0" noProof="0" dirty="0" err="1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pieno</a:t>
            </a:r>
            <a:r>
              <a:rPr kumimoji="0" lang="en-US" sz="975" b="0" i="0" u="none" strike="noStrike" kern="1200" cap="none" spc="0" normalizeH="0" baseline="0" noProof="0" dirty="0">
                <a:ln>
                  <a:noFill/>
                </a:ln>
                <a:solidFill>
                  <a:srgbClr val="9FB6C9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⇒ conca convessa.</a:t>
            </a:r>
            <a:endParaRPr kumimoji="0" lang="en-US" sz="9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3"/>
          <p:cNvSpPr/>
          <p:nvPr/>
        </p:nvSpPr>
        <p:spPr>
          <a:xfrm>
            <a:off x="5385694" y="3277945"/>
            <a:ext cx="406122" cy="4191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Georgia" pitchFamily="34" charset="0"/>
                <a:ea typeface="Georgia" pitchFamily="34" charset="-122"/>
                <a:cs typeface="Georgia" pitchFamily="34" charset="-120"/>
              </a:rPr>
              <a:t>⇒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4"/>
          <p:cNvSpPr/>
          <p:nvPr/>
        </p:nvSpPr>
        <p:spPr>
          <a:xfrm>
            <a:off x="5421532" y="3716095"/>
            <a:ext cx="334566" cy="152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25" b="1" i="0" u="none" strike="noStrike" kern="0" cap="none" spc="113" normalizeH="0" baseline="0" noProof="0" dirty="0">
                <a:ln>
                  <a:noFill/>
                </a:ln>
                <a:solidFill>
                  <a:srgbClr val="E0A458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SPD</a:t>
            </a:r>
            <a:endParaRPr kumimoji="0" lang="en-US" sz="82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25"/>
          <p:cNvSpPr/>
          <p:nvPr/>
        </p:nvSpPr>
        <p:spPr>
          <a:xfrm>
            <a:off x="5836465" y="2363545"/>
            <a:ext cx="2705100" cy="2381250"/>
          </a:xfrm>
          <a:prstGeom prst="roundRect">
            <a:avLst>
              <a:gd name="adj" fmla="val 5600"/>
            </a:avLst>
          </a:prstGeom>
          <a:solidFill>
            <a:srgbClr val="E0A458">
              <a:alpha val="6000"/>
            </a:srgbClr>
          </a:solidFill>
          <a:ln w="7620">
            <a:solidFill>
              <a:srgbClr val="E0A458">
                <a:alpha val="55000"/>
              </a:srgbClr>
            </a:solidFill>
            <a:prstDash val="solid"/>
          </a:ln>
          <a:effectLst>
            <a:outerShdw blurRad="266700" dist="762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26"/>
          <p:cNvSpPr/>
          <p:nvPr/>
        </p:nvSpPr>
        <p:spPr>
          <a:xfrm>
            <a:off x="6034585" y="2595003"/>
            <a:ext cx="85725" cy="85725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it-IT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27"/>
          <p:cNvSpPr/>
          <p:nvPr/>
        </p:nvSpPr>
        <p:spPr>
          <a:xfrm>
            <a:off x="6196510" y="2542615"/>
            <a:ext cx="1570554" cy="220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7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Gradiente Coniugato</a:t>
            </a:r>
            <a:endParaRPr kumimoji="0" lang="en-US" sz="1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41265" y="2775382"/>
            <a:ext cx="2095500" cy="118110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6034585" y="3998750"/>
            <a:ext cx="2385060" cy="60507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marR="0" lvl="0" indent="0" algn="l" defTabSz="914400" rtl="0" eaLnBrk="1" fontAlgn="auto" latinLnBrk="0" hangingPunct="1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13" b="0" i="0" u="none" strike="noStrike" kern="1200" cap="none" spc="0" normalizeH="0" baseline="0" noProof="0" dirty="0">
                <a:ln>
                  <a:noFill/>
                </a:ln>
                <a:solidFill>
                  <a:srgbClr val="E9D9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Nessuna fattorizzazione: sfrutta la struttura e </a:t>
            </a:r>
            <a:r>
              <a:rPr kumimoji="0" lang="en-US" sz="101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converge al minimo </a:t>
            </a:r>
            <a:r>
              <a:rPr kumimoji="0" lang="en-US" sz="1013" b="0" i="0" u="none" strike="noStrike" kern="1200" cap="none" spc="0" normalizeH="0" baseline="0" noProof="0" dirty="0">
                <a:ln>
                  <a:noFill/>
                </a:ln>
                <a:solidFill>
                  <a:srgbClr val="E9D9C4"/>
                </a:solidFill>
                <a:effectLst/>
                <a:uLnTx/>
                <a:uFillTx/>
                <a:latin typeface="Arial" pitchFamily="34" charset="0"/>
                <a:ea typeface="Arial" pitchFamily="34" charset="-122"/>
                <a:cs typeface="Arial" pitchFamily="34" charset="-120"/>
              </a:rPr>
              <a:t>senza problemi.</a:t>
            </a:r>
            <a:endParaRPr kumimoji="0" lang="en-US" sz="1013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6" name="Immagine 15">
            <a:extLst>
              <a:ext uri="{FF2B5EF4-FFF2-40B4-BE49-F238E27FC236}">
                <a16:creationId xmlns:a16="http://schemas.microsoft.com/office/drawing/2014/main" id="{03DB5AF5-0E01-0E5E-664F-72B74AC27EC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47412" y="67249"/>
            <a:ext cx="1603387" cy="138391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109728" cy="10972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704088" y="2743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 · PRESTAZIONI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prezzo della minimalità: il tempo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13533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b="1" dirty="0">
                <a:solidFill>
                  <a:srgbClr val="E0A4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 307×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lento a 100 nodi —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stesso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cicli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ma De Pina li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costruisce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</p:txBody>
      </p:sp>
      <p:pic>
        <p:nvPicPr>
          <p:cNvPr id="6" name="Grafico scala lineare" descr="grafico_line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950" y="1950000"/>
            <a:ext cx="3638100" cy="2010000"/>
          </a:xfrm>
          <a:prstGeom prst="rect">
            <a:avLst/>
          </a:prstGeom>
          <a:ln w="12700">
            <a:solidFill>
              <a:srgbClr val="2C4C6B"/>
            </a:solidFill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</p:pic>
      <p:pic>
        <p:nvPicPr>
          <p:cNvPr id="7" name="Grafico scala logaritmica" descr="grafico_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2950" y="1950000"/>
            <a:ext cx="3638100" cy="2010000"/>
          </a:xfrm>
          <a:prstGeom prst="rect">
            <a:avLst/>
          </a:prstGeom>
          <a:ln w="12700">
            <a:solidFill>
              <a:srgbClr val="2C4C6B"/>
            </a:solidFill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</p:pic>
      <p:sp>
        <p:nvSpPr>
          <p:cNvPr id="8" name="Caption Lineare"/>
          <p:cNvSpPr/>
          <p:nvPr/>
        </p:nvSpPr>
        <p:spPr>
          <a:xfrm>
            <a:off x="712000" y="4010000"/>
            <a:ext cx="376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spc="20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 LINEARE</a:t>
            </a:r>
            <a:endParaRPr lang="en-US" sz="1150" dirty="0"/>
          </a:p>
        </p:txBody>
      </p:sp>
      <p:sp>
        <p:nvSpPr>
          <p:cNvPr id="9" name="Caption Logaritmica"/>
          <p:cNvSpPr/>
          <p:nvPr/>
        </p:nvSpPr>
        <p:spPr>
          <a:xfrm>
            <a:off x="4672000" y="4010000"/>
            <a:ext cx="3760000" cy="2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spc="20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SCALA LOGARITMICA</a:t>
            </a:r>
            <a:endParaRPr lang="en-US" sz="1150" dirty="0"/>
          </a:p>
        </p:txBody>
      </p:sp>
      <p:sp>
        <p:nvSpPr>
          <p:cNvPr id="10" name="Takeaway Card"/>
          <p:cNvSpPr/>
          <p:nvPr/>
        </p:nvSpPr>
        <p:spPr>
          <a:xfrm>
            <a:off x="722160" y="4380000"/>
            <a:ext cx="7720000" cy="600000"/>
          </a:xfrm>
          <a:prstGeom prst="roundRect">
            <a:avLst>
              <a:gd name="adj" fmla="val 9000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r>
              <a:rPr lang="it-IT" sz="1200" dirty="0">
                <a:solidFill>
                  <a:schemeClr val="bg1"/>
                </a:solidFill>
              </a:rPr>
              <a:t>Dato un grafo con n nodi, m archi e N = m-n+1 cicli fondamentali, </a:t>
            </a:r>
            <a:r>
              <a:rPr lang="it-IT" sz="1600" b="1" dirty="0" err="1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Cicli_fondamentali</a:t>
            </a:r>
            <a:r>
              <a:rPr lang="it-IT" sz="1600" b="1" dirty="0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600" b="1" dirty="0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≈ O(</a:t>
            </a:r>
            <a:r>
              <a:rPr lang="en-US" sz="1600" b="1" dirty="0" err="1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n+m+N</a:t>
            </a:r>
            <a:r>
              <a:rPr lang="en-US" sz="1600" b="1" dirty="0">
                <a:solidFill>
                  <a:srgbClr val="00B0F0"/>
                </a:solidFill>
                <a:latin typeface="Cambria" panose="02040503050406030204" pitchFamily="18" charset="0"/>
                <a:ea typeface="Cambria" panose="02040503050406030204" pitchFamily="18" charset="0"/>
                <a:cs typeface="Cambria" pitchFamily="34" charset="-120"/>
              </a:rPr>
              <a:t>*n)</a:t>
            </a: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</a:t>
            </a:r>
          </a:p>
          <a:p>
            <a:r>
              <a:rPr lang="en-US" sz="1600" b="1" dirty="0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600" b="1" dirty="0" err="1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Cicli</a:t>
            </a:r>
            <a:r>
              <a:rPr lang="en-US" sz="1600" b="1" dirty="0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1600" b="1" dirty="0" err="1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minimi</a:t>
            </a:r>
            <a:r>
              <a:rPr lang="en-US" sz="1600" b="1" dirty="0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≈ </a:t>
            </a:r>
            <a:r>
              <a:rPr lang="it-IT" sz="1600" b="1" dirty="0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O(N*n*(</a:t>
            </a:r>
            <a:r>
              <a:rPr lang="it-IT" sz="1600" b="1" dirty="0" err="1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n+m</a:t>
            </a:r>
            <a:r>
              <a:rPr lang="it-IT" sz="1600" b="1" dirty="0">
                <a:solidFill>
                  <a:srgbClr val="FF3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)) </a:t>
            </a:r>
            <a:r>
              <a:rPr lang="it-IT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 costo di aggiornamento dei vettori </a:t>
            </a:r>
            <a:r>
              <a:rPr lang="it-IT" sz="1400" b="1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</a:t>
            </a:r>
            <a:endParaRPr lang="it-IT" sz="1400" i="1" dirty="0">
              <a:solidFill>
                <a:schemeClr val="bg1"/>
              </a:solidFill>
            </a:endParaRPr>
          </a:p>
        </p:txBody>
      </p:sp>
      <p:sp>
        <p:nvSpPr>
          <p:cNvPr id="11" name="Takeaway Text"/>
          <p:cNvSpPr/>
          <p:nvPr/>
        </p:nvSpPr>
        <p:spPr>
          <a:xfrm>
            <a:off x="990000" y="4380000"/>
            <a:ext cx="7170000" cy="6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0000"/>
              </a:lnSpc>
              <a:buNone/>
            </a:pPr>
            <a:endParaRPr lang="en-US" sz="1000" i="1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65760"/>
            <a:ext cx="109728" cy="109728"/>
          </a:xfrm>
          <a:prstGeom prst="ellipse">
            <a:avLst/>
          </a:prstGeom>
          <a:solidFill>
            <a:srgbClr val="E0A45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3" name="Text 1"/>
          <p:cNvSpPr/>
          <p:nvPr/>
        </p:nvSpPr>
        <p:spPr>
          <a:xfrm>
            <a:off x="704088" y="2743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3FBC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RISULTATI · QUALITÀ NUMERICA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02920" y="676656"/>
            <a:ext cx="8138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ricompensa: sparsità e condizionamento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135331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maglie minime di De Pina rendono A più sparsa e meglio condizionata.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02920" y="1783080"/>
            <a:ext cx="4800600" cy="3035808"/>
          </a:xfrm>
          <a:prstGeom prst="roundRect">
            <a:avLst>
              <a:gd name="adj" fmla="val 2711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pic>
        <p:nvPicPr>
          <p:cNvPr id="7" name="Image 0" descr="chart_kapp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1911096"/>
            <a:ext cx="4507992" cy="279305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23560" y="1783080"/>
            <a:ext cx="3017520" cy="868680"/>
          </a:xfrm>
          <a:prstGeom prst="roundRect">
            <a:avLst>
              <a:gd name="adj" fmla="val 9474"/>
            </a:avLst>
          </a:prstGeom>
          <a:solidFill>
            <a:srgbClr val="E0A458"/>
          </a:solidFill>
          <a:ln/>
          <a:effectLst>
            <a:outerShdw blurRad="88900" dist="38100" dir="5400000" algn="bl" rotWithShape="0">
              <a:srgbClr val="000000">
                <a:alpha val="28000"/>
              </a:srgbClr>
            </a:outerShdw>
          </a:effectLst>
        </p:spPr>
        <p:txBody>
          <a:bodyPr/>
          <a:lstStyle/>
          <a:p>
            <a:endParaRPr lang="it-IT"/>
          </a:p>
        </p:txBody>
      </p:sp>
      <p:sp>
        <p:nvSpPr>
          <p:cNvPr id="9" name="Text 6"/>
          <p:cNvSpPr/>
          <p:nvPr/>
        </p:nvSpPr>
        <p:spPr>
          <a:xfrm>
            <a:off x="5623560" y="1783080"/>
            <a:ext cx="3017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2000"/>
              </a:lnSpc>
              <a:buNone/>
            </a:pPr>
            <a:r>
              <a:rPr lang="en-US" sz="2400" b="1" dirty="0">
                <a:solidFill>
                  <a:srgbClr val="0D1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κ(A) fino a ~62×
</a:t>
            </a:r>
            <a:r>
              <a:rPr lang="en-US" sz="1250" dirty="0">
                <a:solidFill>
                  <a:srgbClr val="0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piccola con De Pina</a:t>
            </a:r>
            <a:endParaRPr lang="en-US" sz="2400" dirty="0"/>
          </a:p>
        </p:txBody>
      </p:sp>
      <p:sp>
        <p:nvSpPr>
          <p:cNvPr id="14" name="Shape 10"/>
          <p:cNvSpPr/>
          <p:nvPr/>
        </p:nvSpPr>
        <p:spPr>
          <a:xfrm>
            <a:off x="5623560" y="2965704"/>
            <a:ext cx="3017520" cy="566928"/>
          </a:xfrm>
          <a:prstGeom prst="roundRect">
            <a:avLst>
              <a:gd name="adj" fmla="val 14516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Shape 11"/>
          <p:cNvSpPr/>
          <p:nvPr/>
        </p:nvSpPr>
        <p:spPr>
          <a:xfrm>
            <a:off x="5751576" y="3066288"/>
            <a:ext cx="365760" cy="365760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3121152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7064" y="2965704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DFS esplode
</a:t>
            </a:r>
            <a:r>
              <a:rPr lang="en-US" sz="9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da 79 a oltre 5000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623560" y="3846576"/>
            <a:ext cx="3017520" cy="566928"/>
          </a:xfrm>
          <a:prstGeom prst="roundRect">
            <a:avLst>
              <a:gd name="adj" fmla="val 14516"/>
            </a:avLst>
          </a:prstGeom>
          <a:solidFill>
            <a:srgbClr val="16304B"/>
          </a:solidFill>
          <a:ln w="12700">
            <a:solidFill>
              <a:srgbClr val="2C4C6B"/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4"/>
          <p:cNvSpPr/>
          <p:nvPr/>
        </p:nvSpPr>
        <p:spPr>
          <a:xfrm>
            <a:off x="5751576" y="3947160"/>
            <a:ext cx="365760" cy="365760"/>
          </a:xfrm>
          <a:prstGeom prst="ellipse">
            <a:avLst/>
          </a:prstGeom>
          <a:solidFill>
            <a:srgbClr val="3FBCD4"/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4002024"/>
            <a:ext cx="256032" cy="25603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227064" y="3846576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5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Pina resta piatto
</a:t>
            </a:r>
            <a:r>
              <a:rPr lang="en-US" sz="950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 da 18 a 86</a:t>
            </a:r>
            <a:endParaRPr lang="en-US" sz="1250" dirty="0"/>
          </a:p>
        </p:txBody>
      </p:sp>
      <p:sp>
        <p:nvSpPr>
          <p:cNvPr id="22" name="Text 16"/>
          <p:cNvSpPr/>
          <p:nvPr/>
        </p:nvSpPr>
        <p:spPr>
          <a:xfrm>
            <a:off x="5623560" y="4809744"/>
            <a:ext cx="3017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9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(grafi di prova: anello con corde)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" y="329184"/>
            <a:ext cx="109728" cy="1097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246888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300">
                <a:solidFill>
                  <a:srgbClr val="3FBCD4"/>
                </a:solidFill>
                <a:latin typeface="Calibri"/>
              </a:rPr>
              <a:t>SCELTA PROGETTUALE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138160" cy="58521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mbria"/>
              </a:rPr>
              <a:t>La scelta più delicata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8138160" cy="1024128"/>
          </a:xfrm>
          <a:prstGeom prst="roundRect">
            <a:avLst>
              <a:gd name="adj" fmla="val 7500"/>
            </a:avLst>
          </a:prstGeom>
          <a:solidFill>
            <a:srgbClr val="1E3D5C"/>
          </a:solidFill>
          <a:ln w="12700">
            <a:solidFill>
              <a:srgbClr val="2C4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499616"/>
            <a:ext cx="8138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50" b="1" i="0" spc="250">
                <a:solidFill>
                  <a:srgbClr val="3FBCD4"/>
                </a:solidFill>
                <a:latin typeface="Calibri"/>
              </a:rPr>
              <a:t>LA DIFFICOLTÀ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37360"/>
            <a:ext cx="813816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900" b="1" i="0">
                <a:solidFill>
                  <a:srgbClr val="FFFFFF"/>
                </a:solidFill>
                <a:latin typeface="Cambria"/>
              </a:rPr>
              <a:t>Componente su un arco generico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103120"/>
            <a:ext cx="813816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9FB6C9"/>
                </a:solidFill>
                <a:latin typeface="Calibri"/>
              </a:rPr>
              <a:t>Appoggiarlo a un un_edge senza sporcarlo di logica da circuito.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799614"/>
            <a:ext cx="3977639" cy="1940000"/>
          </a:xfrm>
          <a:prstGeom prst="roundRect">
            <a:avLst>
              <a:gd name="adj" fmla="val 7500"/>
            </a:avLst>
          </a:prstGeom>
          <a:solidFill>
            <a:srgbClr val="16304B"/>
          </a:solidFill>
          <a:ln w="12700">
            <a:solidFill>
              <a:srgbClr val="2C4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713232" y="2989030"/>
            <a:ext cx="201168" cy="201168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95245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Punti di forza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3362746"/>
            <a:ext cx="77724" cy="77724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331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Leggibilità: nomi parlanti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692746"/>
            <a:ext cx="77724" cy="77724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" y="364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Rigore: ogni scelta motivata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022746"/>
            <a:ext cx="77724" cy="77724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97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Responsabilità ben separate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4352746"/>
            <a:ext cx="77724" cy="77724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" y="430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Solida verifica e calcolo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63440" y="2799614"/>
            <a:ext cx="3977639" cy="1940000"/>
          </a:xfrm>
          <a:prstGeom prst="roundRect">
            <a:avLst>
              <a:gd name="adj" fmla="val 7500"/>
            </a:avLst>
          </a:prstGeom>
          <a:solidFill>
            <a:srgbClr val="16304B"/>
          </a:solidFill>
          <a:ln w="12700">
            <a:solidFill>
              <a:srgbClr val="2C4C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4873752" y="2989030"/>
            <a:ext cx="201168" cy="20116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166360" y="2952454"/>
            <a:ext cx="32918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Calibri"/>
              </a:rPr>
              <a:t>Limiti e potenziali sviluppi</a:t>
            </a:r>
          </a:p>
        </p:txBody>
      </p:sp>
      <p:sp>
        <p:nvSpPr>
          <p:cNvPr id="24" name="Oval 23"/>
          <p:cNvSpPr/>
          <p:nvPr/>
        </p:nvSpPr>
        <p:spPr>
          <a:xfrm>
            <a:off x="4892040" y="3362746"/>
            <a:ext cx="77724" cy="77724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074920" y="331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Ipotesi di grafo semplice</a:t>
            </a:r>
          </a:p>
        </p:txBody>
      </p:sp>
      <p:sp>
        <p:nvSpPr>
          <p:cNvPr id="26" name="Oval 25"/>
          <p:cNvSpPr/>
          <p:nvPr/>
        </p:nvSpPr>
        <p:spPr>
          <a:xfrm>
            <a:off x="4892040" y="3692746"/>
            <a:ext cx="77724" cy="77724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74920" y="364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Niente componenti in parallelo</a:t>
            </a:r>
          </a:p>
        </p:txBody>
      </p:sp>
      <p:sp>
        <p:nvSpPr>
          <p:cNvPr id="28" name="Oval 27"/>
          <p:cNvSpPr/>
          <p:nvPr/>
        </p:nvSpPr>
        <p:spPr>
          <a:xfrm>
            <a:off x="4892040" y="4022746"/>
            <a:ext cx="77724" cy="77724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74920" y="3972454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00" b="0" i="0">
                <a:solidFill>
                  <a:srgbClr val="9FB6C9"/>
                </a:solidFill>
                <a:latin typeface="Calibri"/>
              </a:rPr>
              <a:t>Sviluppo futuro: multigrafo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D1B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502920" y="365760"/>
            <a:ext cx="109728" cy="109728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274320"/>
            <a:ext cx="777240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250" b="1" i="0" spc="300">
                <a:solidFill>
                  <a:srgbClr val="3FBCD4"/>
                </a:solidFill>
                <a:latin typeface="Calibri"/>
              </a:rPr>
              <a:t>RINGRAZIAMENTI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52120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Grazie per
l’attenzione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3172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 i="0">
                <a:solidFill>
                  <a:srgbClr val="9FB6C9"/>
                </a:solidFill>
                <a:latin typeface="Calibri"/>
              </a:rPr>
              <a:t>Metodo delle Correnti di Maglia  ·  PCS</a:t>
            </a:r>
          </a:p>
        </p:txBody>
      </p:sp>
      <p:sp>
        <p:nvSpPr>
          <p:cNvPr id="7" name="Oval 6"/>
          <p:cNvSpPr/>
          <p:nvPr/>
        </p:nvSpPr>
        <p:spPr>
          <a:xfrm>
            <a:off x="502920" y="2834640"/>
            <a:ext cx="457200" cy="457200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2920" y="2825496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D1B2E"/>
                </a:solidFill>
                <a:latin typeface="Calibri"/>
              </a:rPr>
              <a:t>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807208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Pietro Ruffatti Vitrotti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090672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9FB6C9"/>
                </a:solidFill>
                <a:latin typeface="Calibri"/>
              </a:rPr>
              <a:t>Matricola 322193</a:t>
            </a:r>
          </a:p>
        </p:txBody>
      </p:sp>
      <p:sp>
        <p:nvSpPr>
          <p:cNvPr id="11" name="Oval 10"/>
          <p:cNvSpPr/>
          <p:nvPr/>
        </p:nvSpPr>
        <p:spPr>
          <a:xfrm>
            <a:off x="502920" y="3493008"/>
            <a:ext cx="457200" cy="457200"/>
          </a:xfrm>
          <a:prstGeom prst="ellipse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483864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D1B2E"/>
                </a:solidFill>
                <a:latin typeface="Calibri"/>
              </a:rPr>
              <a:t>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465576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>
                <a:solidFill>
                  <a:srgbClr val="FFFFFF"/>
                </a:solidFill>
                <a:latin typeface="Calibri"/>
              </a:rPr>
              <a:t>Giulio Emprin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49040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9FB6C9"/>
                </a:solidFill>
                <a:latin typeface="Calibri"/>
              </a:rPr>
              <a:t>Matricola 326627</a:t>
            </a:r>
          </a:p>
        </p:txBody>
      </p:sp>
      <p:sp>
        <p:nvSpPr>
          <p:cNvPr id="15" name="Oval 14"/>
          <p:cNvSpPr/>
          <p:nvPr/>
        </p:nvSpPr>
        <p:spPr>
          <a:xfrm>
            <a:off x="502920" y="4151376"/>
            <a:ext cx="457200" cy="457200"/>
          </a:xfrm>
          <a:prstGeom prst="ellipse">
            <a:avLst/>
          </a:prstGeom>
          <a:solidFill>
            <a:srgbClr val="3FBC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02920" y="4142232"/>
            <a:ext cx="457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300" b="1" i="0">
                <a:solidFill>
                  <a:srgbClr val="0D1B2E"/>
                </a:solidFill>
                <a:latin typeface="Calibri"/>
              </a:rPr>
              <a:t>EA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23944"/>
            <a:ext cx="4206240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550" b="1" i="0" dirty="0">
                <a:solidFill>
                  <a:srgbClr val="FFFFFF"/>
                </a:solidFill>
                <a:latin typeface="Calibri"/>
              </a:rPr>
              <a:t>Emanuele Albert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407408"/>
            <a:ext cx="4206240" cy="23774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0" i="0">
                <a:solidFill>
                  <a:srgbClr val="9FB6C9"/>
                </a:solidFill>
                <a:latin typeface="Calibri"/>
              </a:rPr>
              <a:t>Matricola 323552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5897880" y="2697480"/>
            <a:ext cx="1554480" cy="91440"/>
          </a:xfrm>
          <a:prstGeom prst="line">
            <a:avLst/>
          </a:prstGeom>
          <a:ln w="31750">
            <a:solidFill>
              <a:srgbClr val="2A8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8366760" y="1691640"/>
            <a:ext cx="182880" cy="1737360"/>
          </a:xfrm>
          <a:prstGeom prst="line">
            <a:avLst/>
          </a:prstGeom>
          <a:ln w="31750">
            <a:solidFill>
              <a:srgbClr val="2A8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6995160" y="3429000"/>
            <a:ext cx="1554480" cy="640080"/>
          </a:xfrm>
          <a:prstGeom prst="line">
            <a:avLst/>
          </a:prstGeom>
          <a:ln w="31750">
            <a:solidFill>
              <a:srgbClr val="2A8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5897880" y="2788920"/>
            <a:ext cx="1097280" cy="1280160"/>
          </a:xfrm>
          <a:prstGeom prst="line">
            <a:avLst/>
          </a:prstGeom>
          <a:ln w="31750">
            <a:solidFill>
              <a:srgbClr val="2A8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897880" y="1188720"/>
            <a:ext cx="640080" cy="1600200"/>
          </a:xfrm>
          <a:prstGeom prst="line">
            <a:avLst/>
          </a:prstGeom>
          <a:ln w="31750">
            <a:solidFill>
              <a:srgbClr val="E0A4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537960" y="1188720"/>
            <a:ext cx="914400" cy="1508760"/>
          </a:xfrm>
          <a:prstGeom prst="line">
            <a:avLst/>
          </a:prstGeom>
          <a:ln w="31750">
            <a:solidFill>
              <a:srgbClr val="E0A4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7452360" y="1691640"/>
            <a:ext cx="914400" cy="1005840"/>
          </a:xfrm>
          <a:prstGeom prst="line">
            <a:avLst/>
          </a:prstGeom>
          <a:ln w="31750">
            <a:solidFill>
              <a:srgbClr val="E0A45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6355080" y="1005840"/>
            <a:ext cx="365760" cy="365760"/>
          </a:xfrm>
          <a:prstGeom prst="ellipse">
            <a:avLst/>
          </a:prstGeom>
          <a:solidFill>
            <a:srgbClr val="E0A458"/>
          </a:solidFill>
          <a:ln w="25400">
            <a:solidFill>
              <a:srgbClr val="0D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5715000" y="2606039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7269480" y="2514600"/>
            <a:ext cx="365760" cy="365760"/>
          </a:xfrm>
          <a:prstGeom prst="ellipse">
            <a:avLst/>
          </a:prstGeom>
          <a:solidFill>
            <a:srgbClr val="E0A458"/>
          </a:solidFill>
          <a:ln w="25400">
            <a:solidFill>
              <a:srgbClr val="0D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8183880" y="150876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8366760" y="324612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6812280" y="3886200"/>
            <a:ext cx="365760" cy="365760"/>
          </a:xfrm>
          <a:prstGeom prst="ellipse">
            <a:avLst/>
          </a:prstGeom>
          <a:solidFill>
            <a:srgbClr val="3FBCD4"/>
          </a:solidFill>
          <a:ln w="25400">
            <a:solidFill>
              <a:srgbClr val="0D1B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1447</Words>
  <Application>Microsoft Office PowerPoint</Application>
  <PresentationFormat>Presentazione su schermo (16:9)</PresentationFormat>
  <Paragraphs>207</Paragraphs>
  <Slides>11</Slides>
  <Notes>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8" baseType="lpstr">
      <vt:lpstr>Aptos</vt:lpstr>
      <vt:lpstr>Arial</vt:lpstr>
      <vt:lpstr>Calibri</vt:lpstr>
      <vt:lpstr>Cambria</vt:lpstr>
      <vt:lpstr>Courier New</vt:lpstr>
      <vt:lpstr>Georgia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Metodo delle Correnti di Maglia</dc:title>
  <dc:subject>PptxGenJS Presentation</dc:subject>
  <dc:creator>Progetto Correnti di Maglia</dc:creator>
  <cp:lastModifiedBy>Ruffatti Vitrotti  Pietro</cp:lastModifiedBy>
  <cp:revision>6</cp:revision>
  <dcterms:created xsi:type="dcterms:W3CDTF">2026-06-25T17:17:09Z</dcterms:created>
  <dcterms:modified xsi:type="dcterms:W3CDTF">2026-06-29T22:47:44Z</dcterms:modified>
</cp:coreProperties>
</file>